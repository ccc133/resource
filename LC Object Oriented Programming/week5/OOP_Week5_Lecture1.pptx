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42" r:id="rId2"/>
    <p:sldId id="262" r:id="rId3"/>
    <p:sldId id="267" r:id="rId4"/>
    <p:sldId id="320" r:id="rId5"/>
    <p:sldId id="323" r:id="rId6"/>
    <p:sldId id="324" r:id="rId7"/>
    <p:sldId id="327" r:id="rId8"/>
    <p:sldId id="325" r:id="rId9"/>
    <p:sldId id="326" r:id="rId10"/>
    <p:sldId id="328" r:id="rId11"/>
    <p:sldId id="329" r:id="rId12"/>
    <p:sldId id="330" r:id="rId13"/>
    <p:sldId id="321" r:id="rId14"/>
    <p:sldId id="32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31" r:id="rId25"/>
    <p:sldId id="316" r:id="rId26"/>
  </p:sldIdLst>
  <p:sldSz cx="9144000" cy="5143500" type="screen16x9"/>
  <p:notesSz cx="9144000" cy="6858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Georgia" panose="02040502050405020303" pitchFamily="18" charset="0"/>
      <p:regular r:id="rId33"/>
      <p:bold r:id="rId34"/>
      <p:italic r:id="rId35"/>
      <p:boldItalic r:id="rId36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489EBD"/>
    <a:srgbClr val="99FFCC"/>
    <a:srgbClr val="C6680A"/>
    <a:srgbClr val="9F6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5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zheng Wan" userId="02e35b87-44bd-4455-aecc-56042df92991" providerId="ADAL" clId="{F3959B82-9950-43F8-975E-1FE564E7CA72}"/>
    <pc:docChg chg="custSel modSld">
      <pc:chgData name="Jizheng Wan" userId="02e35b87-44bd-4455-aecc-56042df92991" providerId="ADAL" clId="{F3959B82-9950-43F8-975E-1FE564E7CA72}" dt="2022-11-01T23:40:30.402" v="8" actId="478"/>
      <pc:docMkLst>
        <pc:docMk/>
      </pc:docMkLst>
      <pc:sldChg chg="modSp mod">
        <pc:chgData name="Jizheng Wan" userId="02e35b87-44bd-4455-aecc-56042df92991" providerId="ADAL" clId="{F3959B82-9950-43F8-975E-1FE564E7CA72}" dt="2022-11-01T23:39:56.116" v="2" actId="20577"/>
        <pc:sldMkLst>
          <pc:docMk/>
          <pc:sldMk cId="978461468" sldId="267"/>
        </pc:sldMkLst>
        <pc:spChg chg="mod">
          <ac:chgData name="Jizheng Wan" userId="02e35b87-44bd-4455-aecc-56042df92991" providerId="ADAL" clId="{F3959B82-9950-43F8-975E-1FE564E7CA72}" dt="2022-11-01T23:39:56.116" v="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F3959B82-9950-43F8-975E-1FE564E7CA72}" dt="2022-11-01T23:39:50.704" v="0" actId="6549"/>
        <pc:sldMkLst>
          <pc:docMk/>
          <pc:sldMk cId="364580180" sldId="319"/>
        </pc:sldMkLst>
        <pc:spChg chg="mod">
          <ac:chgData name="Jizheng Wan" userId="02e35b87-44bd-4455-aecc-56042df92991" providerId="ADAL" clId="{F3959B82-9950-43F8-975E-1FE564E7CA72}" dt="2022-11-01T23:39:50.704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delSp mod">
        <pc:chgData name="Jizheng Wan" userId="02e35b87-44bd-4455-aecc-56042df92991" providerId="ADAL" clId="{F3959B82-9950-43F8-975E-1FE564E7CA72}" dt="2022-11-01T23:40:18.809" v="4" actId="478"/>
        <pc:sldMkLst>
          <pc:docMk/>
          <pc:sldMk cId="2774230203" sldId="321"/>
        </pc:sldMkLst>
        <pc:inkChg chg="del">
          <ac:chgData name="Jizheng Wan" userId="02e35b87-44bd-4455-aecc-56042df92991" providerId="ADAL" clId="{F3959B82-9950-43F8-975E-1FE564E7CA72}" dt="2022-11-01T23:40:18.809" v="4" actId="478"/>
          <ac:inkMkLst>
            <pc:docMk/>
            <pc:sldMk cId="2774230203" sldId="321"/>
            <ac:inkMk id="5" creationId="{5D9C3CFE-A64B-0451-616F-2F826039F123}"/>
          </ac:inkMkLst>
        </pc:inkChg>
      </pc:sldChg>
      <pc:sldChg chg="delSp mod">
        <pc:chgData name="Jizheng Wan" userId="02e35b87-44bd-4455-aecc-56042df92991" providerId="ADAL" clId="{F3959B82-9950-43F8-975E-1FE564E7CA72}" dt="2022-11-01T23:40:15.260" v="3" actId="478"/>
        <pc:sldMkLst>
          <pc:docMk/>
          <pc:sldMk cId="585716244" sldId="322"/>
        </pc:sldMkLst>
        <pc:inkChg chg="del">
          <ac:chgData name="Jizheng Wan" userId="02e35b87-44bd-4455-aecc-56042df92991" providerId="ADAL" clId="{F3959B82-9950-43F8-975E-1FE564E7CA72}" dt="2022-11-01T23:40:15.260" v="3" actId="478"/>
          <ac:inkMkLst>
            <pc:docMk/>
            <pc:sldMk cId="585716244" sldId="322"/>
            <ac:inkMk id="6" creationId="{596C9936-815E-BFDB-A85E-619DE24130D2}"/>
          </ac:inkMkLst>
        </pc:inkChg>
      </pc:sldChg>
      <pc:sldChg chg="delSp mod">
        <pc:chgData name="Jizheng Wan" userId="02e35b87-44bd-4455-aecc-56042df92991" providerId="ADAL" clId="{F3959B82-9950-43F8-975E-1FE564E7CA72}" dt="2022-11-01T23:40:22.362" v="5" actId="478"/>
        <pc:sldMkLst>
          <pc:docMk/>
          <pc:sldMk cId="3543225394" sldId="324"/>
        </pc:sldMkLst>
        <pc:inkChg chg="del">
          <ac:chgData name="Jizheng Wan" userId="02e35b87-44bd-4455-aecc-56042df92991" providerId="ADAL" clId="{F3959B82-9950-43F8-975E-1FE564E7CA72}" dt="2022-11-01T23:40:22.362" v="5" actId="478"/>
          <ac:inkMkLst>
            <pc:docMk/>
            <pc:sldMk cId="3543225394" sldId="324"/>
            <ac:inkMk id="5" creationId="{5A8E88AA-CB29-2C3C-6F3B-15D43E62176F}"/>
          </ac:inkMkLst>
        </pc:inkChg>
      </pc:sldChg>
      <pc:sldChg chg="delSp mod">
        <pc:chgData name="Jizheng Wan" userId="02e35b87-44bd-4455-aecc-56042df92991" providerId="ADAL" clId="{F3959B82-9950-43F8-975E-1FE564E7CA72}" dt="2022-11-01T23:40:25.613" v="6" actId="478"/>
        <pc:sldMkLst>
          <pc:docMk/>
          <pc:sldMk cId="2843695421" sldId="328"/>
        </pc:sldMkLst>
        <pc:inkChg chg="del">
          <ac:chgData name="Jizheng Wan" userId="02e35b87-44bd-4455-aecc-56042df92991" providerId="ADAL" clId="{F3959B82-9950-43F8-975E-1FE564E7CA72}" dt="2022-11-01T23:40:25.613" v="6" actId="478"/>
          <ac:inkMkLst>
            <pc:docMk/>
            <pc:sldMk cId="2843695421" sldId="328"/>
            <ac:inkMk id="9" creationId="{DA27154C-09E8-3501-3D3C-E57C7A37A617}"/>
          </ac:inkMkLst>
        </pc:inkChg>
      </pc:sldChg>
      <pc:sldChg chg="delSp mod">
        <pc:chgData name="Jizheng Wan" userId="02e35b87-44bd-4455-aecc-56042df92991" providerId="ADAL" clId="{F3959B82-9950-43F8-975E-1FE564E7CA72}" dt="2022-11-01T23:40:27.787" v="7" actId="478"/>
        <pc:sldMkLst>
          <pc:docMk/>
          <pc:sldMk cId="4236375752" sldId="329"/>
        </pc:sldMkLst>
        <pc:inkChg chg="del">
          <ac:chgData name="Jizheng Wan" userId="02e35b87-44bd-4455-aecc-56042df92991" providerId="ADAL" clId="{F3959B82-9950-43F8-975E-1FE564E7CA72}" dt="2022-11-01T23:40:27.787" v="7" actId="478"/>
          <ac:inkMkLst>
            <pc:docMk/>
            <pc:sldMk cId="4236375752" sldId="329"/>
            <ac:inkMk id="9" creationId="{A2E74113-A377-8A1F-AABE-67769885F0F4}"/>
          </ac:inkMkLst>
        </pc:inkChg>
      </pc:sldChg>
      <pc:sldChg chg="delSp mod">
        <pc:chgData name="Jizheng Wan" userId="02e35b87-44bd-4455-aecc-56042df92991" providerId="ADAL" clId="{F3959B82-9950-43F8-975E-1FE564E7CA72}" dt="2022-11-01T23:40:30.402" v="8" actId="478"/>
        <pc:sldMkLst>
          <pc:docMk/>
          <pc:sldMk cId="1399123181" sldId="330"/>
        </pc:sldMkLst>
        <pc:inkChg chg="del">
          <ac:chgData name="Jizheng Wan" userId="02e35b87-44bd-4455-aecc-56042df92991" providerId="ADAL" clId="{F3959B82-9950-43F8-975E-1FE564E7CA72}" dt="2022-11-01T23:40:30.402" v="8" actId="478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 (Computer Science)" userId="02e35b87-44bd-4455-aecc-56042df92991" providerId="ADAL" clId="{E71AEA3C-0C59-40A7-8579-143F49D6CBEC}"/>
    <pc:docChg chg="undo custSel addSld delSld modSld">
      <pc:chgData name="Jizheng Wan (Computer Science)" userId="02e35b87-44bd-4455-aecc-56042df92991" providerId="ADAL" clId="{E71AEA3C-0C59-40A7-8579-143F49D6CBEC}" dt="2023-10-24T07:59:24.422" v="103" actId="729"/>
      <pc:docMkLst>
        <pc:docMk/>
      </pc:docMkLst>
      <pc:sldChg chg="modSp mod">
        <pc:chgData name="Jizheng Wan (Computer Science)" userId="02e35b87-44bd-4455-aecc-56042df92991" providerId="ADAL" clId="{E71AEA3C-0C59-40A7-8579-143F49D6CBEC}" dt="2023-10-19T14:33:45.163" v="44" actId="20577"/>
        <pc:sldMkLst>
          <pc:docMk/>
          <pc:sldMk cId="3855887011" sldId="262"/>
        </pc:sldMkLst>
        <pc:spChg chg="mod">
          <ac:chgData name="Jizheng Wan (Computer Science)" userId="02e35b87-44bd-4455-aecc-56042df92991" providerId="ADAL" clId="{E71AEA3C-0C59-40A7-8579-143F49D6CBEC}" dt="2023-10-19T13:16:07.207" v="1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 (Computer Science)" userId="02e35b87-44bd-4455-aecc-56042df92991" providerId="ADAL" clId="{E71AEA3C-0C59-40A7-8579-143F49D6CBEC}" dt="2023-10-19T14:33:45.163" v="44" actId="20577"/>
          <ac:spMkLst>
            <pc:docMk/>
            <pc:sldMk cId="3855887011" sldId="262"/>
            <ac:spMk id="6" creationId="{00000000-0000-0000-0000-000000000000}"/>
          </ac:spMkLst>
        </pc:spChg>
      </pc:sldChg>
      <pc:sldChg chg="modSp mod">
        <pc:chgData name="Jizheng Wan (Computer Science)" userId="02e35b87-44bd-4455-aecc-56042df92991" providerId="ADAL" clId="{E71AEA3C-0C59-40A7-8579-143F49D6CBEC}" dt="2023-10-24T07:52:04.926" v="102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E71AEA3C-0C59-40A7-8579-143F49D6CBEC}" dt="2023-10-24T07:52:04.926" v="10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del">
        <pc:chgData name="Jizheng Wan (Computer Science)" userId="02e35b87-44bd-4455-aecc-56042df92991" providerId="ADAL" clId="{E71AEA3C-0C59-40A7-8579-143F49D6CBEC}" dt="2023-10-19T14:32:46.549" v="42" actId="47"/>
        <pc:sldMkLst>
          <pc:docMk/>
          <pc:sldMk cId="4127697669" sldId="283"/>
        </pc:sldMkLst>
      </pc:sldChg>
      <pc:sldChg chg="del">
        <pc:chgData name="Jizheng Wan (Computer Science)" userId="02e35b87-44bd-4455-aecc-56042df92991" providerId="ADAL" clId="{E71AEA3C-0C59-40A7-8579-143F49D6CBEC}" dt="2023-10-19T13:16:02.618" v="0" actId="47"/>
        <pc:sldMkLst>
          <pc:docMk/>
          <pc:sldMk cId="364580180" sldId="319"/>
        </pc:sldMkLst>
      </pc:sldChg>
      <pc:sldChg chg="del">
        <pc:chgData name="Jizheng Wan (Computer Science)" userId="02e35b87-44bd-4455-aecc-56042df92991" providerId="ADAL" clId="{E71AEA3C-0C59-40A7-8579-143F49D6CBEC}" dt="2023-10-19T13:18:50.192" v="9" actId="47"/>
        <pc:sldMkLst>
          <pc:docMk/>
          <pc:sldMk cId="2774230203" sldId="321"/>
        </pc:sldMkLst>
      </pc:sldChg>
      <pc:sldChg chg="modSp add">
        <pc:chgData name="Jizheng Wan (Computer Science)" userId="02e35b87-44bd-4455-aecc-56042df92991" providerId="ADAL" clId="{E71AEA3C-0C59-40A7-8579-143F49D6CBEC}" dt="2023-10-19T14:40:40.043" v="70" actId="113"/>
        <pc:sldMkLst>
          <pc:docMk/>
          <pc:sldMk cId="3843587715" sldId="321"/>
        </pc:sldMkLst>
        <pc:spChg chg="mod">
          <ac:chgData name="Jizheng Wan (Computer Science)" userId="02e35b87-44bd-4455-aecc-56042df92991" providerId="ADAL" clId="{E71AEA3C-0C59-40A7-8579-143F49D6CBEC}" dt="2023-10-19T14:40:40.043" v="70" actId="113"/>
          <ac:spMkLst>
            <pc:docMk/>
            <pc:sldMk cId="3843587715" sldId="321"/>
            <ac:spMk id="3" creationId="{5665319C-A427-497D-AA67-27BD32E5CCDC}"/>
          </ac:spMkLst>
        </pc:spChg>
      </pc:sldChg>
      <pc:sldChg chg="del">
        <pc:chgData name="Jizheng Wan (Computer Science)" userId="02e35b87-44bd-4455-aecc-56042df92991" providerId="ADAL" clId="{E71AEA3C-0C59-40A7-8579-143F49D6CBEC}" dt="2023-10-19T13:18:50.192" v="9" actId="47"/>
        <pc:sldMkLst>
          <pc:docMk/>
          <pc:sldMk cId="585716244" sldId="322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381449344" sldId="322"/>
        </pc:sldMkLst>
      </pc:sldChg>
      <pc:sldChg chg="modSp">
        <pc:chgData name="Jizheng Wan (Computer Science)" userId="02e35b87-44bd-4455-aecc-56042df92991" providerId="ADAL" clId="{E71AEA3C-0C59-40A7-8579-143F49D6CBEC}" dt="2023-10-19T13:52:19.897" v="25" actId="255"/>
        <pc:sldMkLst>
          <pc:docMk/>
          <pc:sldMk cId="3724970255" sldId="323"/>
        </pc:sldMkLst>
        <pc:spChg chg="mod">
          <ac:chgData name="Jizheng Wan (Computer Science)" userId="02e35b87-44bd-4455-aecc-56042df92991" providerId="ADAL" clId="{E71AEA3C-0C59-40A7-8579-143F49D6CBEC}" dt="2023-10-19T13:52:19.897" v="25" actId="255"/>
          <ac:spMkLst>
            <pc:docMk/>
            <pc:sldMk cId="3724970255" sldId="323"/>
            <ac:spMk id="3" creationId="{1905B739-ADE8-406B-B5BB-21B7DCB250D3}"/>
          </ac:spMkLst>
        </pc:spChg>
      </pc:sldChg>
      <pc:sldChg chg="modSp mod">
        <pc:chgData name="Jizheng Wan (Computer Science)" userId="02e35b87-44bd-4455-aecc-56042df92991" providerId="ADAL" clId="{E71AEA3C-0C59-40A7-8579-143F49D6CBEC}" dt="2023-10-19T13:54:36.820" v="41" actId="20577"/>
        <pc:sldMkLst>
          <pc:docMk/>
          <pc:sldMk cId="3543225394" sldId="324"/>
        </pc:sldMkLst>
        <pc:spChg chg="mod">
          <ac:chgData name="Jizheng Wan (Computer Science)" userId="02e35b87-44bd-4455-aecc-56042df92991" providerId="ADAL" clId="{E71AEA3C-0C59-40A7-8579-143F49D6CBEC}" dt="2023-10-19T13:54:36.820" v="41" actId="20577"/>
          <ac:spMkLst>
            <pc:docMk/>
            <pc:sldMk cId="3543225394" sldId="324"/>
            <ac:spMk id="3" creationId="{3B47BD3D-3483-BC81-79B6-BBF347E287DB}"/>
          </ac:spMkLst>
        </pc:spChg>
      </pc:sldChg>
      <pc:sldChg chg="addSp delSp mod modShow">
        <pc:chgData name="Jizheng Wan (Computer Science)" userId="02e35b87-44bd-4455-aecc-56042df92991" providerId="ADAL" clId="{E71AEA3C-0C59-40A7-8579-143F49D6CBEC}" dt="2023-10-24T07:59:24.422" v="103" actId="729"/>
        <pc:sldMkLst>
          <pc:docMk/>
          <pc:sldMk cId="3990925061" sldId="325"/>
        </pc:sldMkLst>
        <pc:inkChg chg="add del">
          <ac:chgData name="Jizheng Wan (Computer Science)" userId="02e35b87-44bd-4455-aecc-56042df92991" providerId="ADAL" clId="{E71AEA3C-0C59-40A7-8579-143F49D6CBEC}" dt="2023-10-19T14:48:57.283" v="79" actId="478"/>
          <ac:inkMkLst>
            <pc:docMk/>
            <pc:sldMk cId="3990925061" sldId="325"/>
            <ac:inkMk id="4" creationId="{AE90F526-E594-70F4-76E9-564C15DA7214}"/>
          </ac:inkMkLst>
        </pc:inkChg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673728821" sldId="331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774230203" sldId="333"/>
        </pc:sldMkLst>
      </pc:sldChg>
      <pc:sldChg chg="modSp add mod">
        <pc:chgData name="Jizheng Wan (Computer Science)" userId="02e35b87-44bd-4455-aecc-56042df92991" providerId="ADAL" clId="{E71AEA3C-0C59-40A7-8579-143F49D6CBEC}" dt="2023-10-19T14:43:34.895" v="74" actId="20577"/>
        <pc:sldMkLst>
          <pc:docMk/>
          <pc:sldMk cId="480346615" sldId="334"/>
        </pc:sldMkLst>
        <pc:spChg chg="mod">
          <ac:chgData name="Jizheng Wan (Computer Science)" userId="02e35b87-44bd-4455-aecc-56042df92991" providerId="ADAL" clId="{E71AEA3C-0C59-40A7-8579-143F49D6CBEC}" dt="2023-10-19T14:43:34.895" v="74" actId="20577"/>
          <ac:spMkLst>
            <pc:docMk/>
            <pc:sldMk cId="480346615" sldId="334"/>
            <ac:spMk id="3" creationId="{5665319C-A427-497D-AA67-27BD32E5CCDC}"/>
          </ac:spMkLst>
        </pc:spChg>
      </pc:sldChg>
      <pc:sldChg chg="modSp add mod">
        <pc:chgData name="Jizheng Wan (Computer Science)" userId="02e35b87-44bd-4455-aecc-56042df92991" providerId="ADAL" clId="{E71AEA3C-0C59-40A7-8579-143F49D6CBEC}" dt="2023-10-19T14:49:03.939" v="81" actId="113"/>
        <pc:sldMkLst>
          <pc:docMk/>
          <pc:sldMk cId="2801332739" sldId="335"/>
        </pc:sldMkLst>
        <pc:spChg chg="mod">
          <ac:chgData name="Jizheng Wan (Computer Science)" userId="02e35b87-44bd-4455-aecc-56042df92991" providerId="ADAL" clId="{E71AEA3C-0C59-40A7-8579-143F49D6CBEC}" dt="2023-10-19T14:49:03.939" v="81" actId="113"/>
          <ac:spMkLst>
            <pc:docMk/>
            <pc:sldMk cId="2801332739" sldId="335"/>
            <ac:spMk id="3" creationId="{060ADBB1-487F-7DB1-4ADC-D9E7AF20DF0B}"/>
          </ac:spMkLst>
        </pc:spChg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749196193" sldId="336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3968766224" sldId="337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622433894" sldId="338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234870139" sldId="339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3944825770" sldId="340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250438858" sldId="341"/>
        </pc:sldMkLst>
      </pc:sldChg>
    </pc:docChg>
  </pc:docChgLst>
  <pc:docChgLst>
    <pc:chgData name="Jizheng Wan (Computer Science)" userId="02e35b87-44bd-4455-aecc-56042df92991" providerId="ADAL" clId="{62A864DE-0766-4D38-A54B-01B9818A4F8C}"/>
    <pc:docChg chg="custSel addSld modSld">
      <pc:chgData name="Jizheng Wan (Computer Science)" userId="02e35b87-44bd-4455-aecc-56042df92991" providerId="ADAL" clId="{62A864DE-0766-4D38-A54B-01B9818A4F8C}" dt="2023-10-24T01:20:52.221" v="21" actId="1076"/>
      <pc:docMkLst>
        <pc:docMk/>
      </pc:docMkLst>
      <pc:sldChg chg="modSp mod">
        <pc:chgData name="Jizheng Wan (Computer Science)" userId="02e35b87-44bd-4455-aecc-56042df92991" providerId="ADAL" clId="{62A864DE-0766-4D38-A54B-01B9818A4F8C}" dt="2023-10-24T00:56:21.501" v="10" actId="20577"/>
        <pc:sldMkLst>
          <pc:docMk/>
          <pc:sldMk cId="1622433894" sldId="338"/>
        </pc:sldMkLst>
        <pc:spChg chg="mod">
          <ac:chgData name="Jizheng Wan (Computer Science)" userId="02e35b87-44bd-4455-aecc-56042df92991" providerId="ADAL" clId="{62A864DE-0766-4D38-A54B-01B9818A4F8C}" dt="2023-10-24T00:56:21.501" v="10" actId="20577"/>
          <ac:spMkLst>
            <pc:docMk/>
            <pc:sldMk cId="1622433894" sldId="338"/>
            <ac:spMk id="3" creationId="{060ADBB1-487F-7DB1-4ADC-D9E7AF20DF0B}"/>
          </ac:spMkLst>
        </pc:spChg>
      </pc:sldChg>
      <pc:sldChg chg="addSp delSp modSp new mod">
        <pc:chgData name="Jizheng Wan (Computer Science)" userId="02e35b87-44bd-4455-aecc-56042df92991" providerId="ADAL" clId="{62A864DE-0766-4D38-A54B-01B9818A4F8C}" dt="2023-10-24T01:20:52.221" v="21" actId="1076"/>
        <pc:sldMkLst>
          <pc:docMk/>
          <pc:sldMk cId="2591951929" sldId="342"/>
        </pc:sldMkLst>
        <pc:spChg chg="del">
          <ac:chgData name="Jizheng Wan (Computer Science)" userId="02e35b87-44bd-4455-aecc-56042df92991" providerId="ADAL" clId="{62A864DE-0766-4D38-A54B-01B9818A4F8C}" dt="2023-10-24T01:20:37.077" v="12" actId="478"/>
          <ac:spMkLst>
            <pc:docMk/>
            <pc:sldMk cId="2591951929" sldId="342"/>
            <ac:spMk id="2" creationId="{05197223-3853-EBF6-517D-7218C030AF12}"/>
          </ac:spMkLst>
        </pc:spChg>
        <pc:spChg chg="del">
          <ac:chgData name="Jizheng Wan (Computer Science)" userId="02e35b87-44bd-4455-aecc-56042df92991" providerId="ADAL" clId="{62A864DE-0766-4D38-A54B-01B9818A4F8C}" dt="2023-10-24T01:20:38.282" v="13" actId="478"/>
          <ac:spMkLst>
            <pc:docMk/>
            <pc:sldMk cId="2591951929" sldId="342"/>
            <ac:spMk id="3" creationId="{4B0F22FD-2065-CE56-D753-19414AA7DF0E}"/>
          </ac:spMkLst>
        </pc:spChg>
        <pc:spChg chg="add mod">
          <ac:chgData name="Jizheng Wan (Computer Science)" userId="02e35b87-44bd-4455-aecc-56042df92991" providerId="ADAL" clId="{62A864DE-0766-4D38-A54B-01B9818A4F8C}" dt="2023-10-24T01:20:52.221" v="21" actId="1076"/>
          <ac:spMkLst>
            <pc:docMk/>
            <pc:sldMk cId="2591951929" sldId="342"/>
            <ac:spMk id="5" creationId="{9EF37B06-8C33-1F2E-DDD2-B4FE31DDAE19}"/>
          </ac:spMkLst>
        </pc:spChg>
      </pc:sldChg>
    </pc:docChg>
  </pc:docChgLst>
  <pc:docChgLst>
    <pc:chgData name="Jizheng Wan" userId="02e35b87-44bd-4455-aecc-56042df92991" providerId="ADAL" clId="{702691A6-40BF-4444-AEDF-3F58A60EA10D}"/>
    <pc:docChg chg="modSld">
      <pc:chgData name="Jizheng Wan" userId="02e35b87-44bd-4455-aecc-56042df92991" providerId="ADAL" clId="{702691A6-40BF-4444-AEDF-3F58A60EA10D}" dt="2022-11-01T18:56:57.899" v="0"/>
      <pc:docMkLst>
        <pc:docMk/>
      </pc:docMkLst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774230203" sldId="321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774230203" sldId="321"/>
            <ac:inkMk id="5" creationId="{5D9C3CFE-A64B-0451-616F-2F826039F123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585716244" sldId="322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585716244" sldId="322"/>
            <ac:inkMk id="6" creationId="{596C9936-815E-BFDB-A85E-619DE24130D2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543225394" sldId="324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543225394" sldId="324"/>
            <ac:inkMk id="5" creationId="{5A8E88AA-CB29-2C3C-6F3B-15D43E62176F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990925061" sldId="325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990925061" sldId="325"/>
            <ac:inkMk id="4" creationId="{AE90F526-E594-70F4-76E9-564C15DA721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843695421" sldId="328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843695421" sldId="328"/>
            <ac:inkMk id="9" creationId="{DA27154C-09E8-3501-3D3C-E57C7A37A617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4236375752" sldId="329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4236375752" sldId="329"/>
            <ac:inkMk id="9" creationId="{A2E74113-A377-8A1F-AABE-67769885F0F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1399123181" sldId="330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10/24/2023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3.0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2-11-01T18:40:19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13097 6390 0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24/10/2023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37B06-8C33-1F2E-DDD2-B4FE31DDAE19}"/>
              </a:ext>
            </a:extLst>
          </p:cNvPr>
          <p:cNvSpPr txBox="1"/>
          <p:nvPr/>
        </p:nvSpPr>
        <p:spPr>
          <a:xfrm>
            <a:off x="2459182" y="1536017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b="1" dirty="0"/>
              <a:t>Code: 58125930</a:t>
            </a:r>
          </a:p>
        </p:txBody>
      </p:sp>
    </p:spTree>
    <p:extLst>
      <p:ext uri="{BB962C8B-B14F-4D97-AF65-F5344CB8AC3E}">
        <p14:creationId xmlns:p14="http://schemas.microsoft.com/office/powerpoint/2010/main" val="259195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OOP/SW – Week 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Dr. Jizheng Wan</a:t>
            </a:r>
          </a:p>
          <a:p>
            <a:pPr algn="ctr"/>
            <a:r>
              <a:rPr lang="en-GB" dirty="0"/>
              <a:t>Oct 2023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Character class methods – Lecture 1</a:t>
            </a:r>
          </a:p>
          <a:p>
            <a:r>
              <a:rPr lang="en-GB" dirty="0"/>
              <a:t>Understand the string data problems – Lecture 1</a:t>
            </a:r>
          </a:p>
          <a:p>
            <a:r>
              <a:rPr lang="en-GB" dirty="0"/>
              <a:t>Declare/initialise String objects – Lecture 1</a:t>
            </a:r>
          </a:p>
          <a:p>
            <a:r>
              <a:rPr lang="en-GB" dirty="0"/>
              <a:t>Useful String methods – Lecture 1</a:t>
            </a:r>
          </a:p>
          <a:p>
            <a:r>
              <a:rPr lang="en-GB" dirty="0"/>
              <a:t>StringBuilder and StringBuffer – Lecture 1</a:t>
            </a:r>
          </a:p>
          <a:p>
            <a:r>
              <a:rPr lang="en-GB" dirty="0"/>
              <a:t>Arrays – Lecture 2</a:t>
            </a:r>
          </a:p>
        </p:txBody>
      </p:sp>
    </p:spTree>
    <p:extLst>
      <p:ext uri="{BB962C8B-B14F-4D97-AF65-F5344CB8AC3E}">
        <p14:creationId xmlns:p14="http://schemas.microsoft.com/office/powerpoint/2010/main" val="9784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5369-CD5A-07B3-7092-72C5CCB1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1510"/>
            <a:ext cx="4969840" cy="857250"/>
          </a:xfrm>
        </p:spPr>
        <p:txBody>
          <a:bodyPr/>
          <a:lstStyle/>
          <a:p>
            <a:r>
              <a:rPr lang="en-GB" dirty="0"/>
              <a:t>Review Java primitive data types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32C6A95-75C2-A412-68D8-2CAD716CE3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0691598"/>
              </p:ext>
            </p:extLst>
          </p:nvPr>
        </p:nvGraphicFramePr>
        <p:xfrm>
          <a:off x="5230906" y="411510"/>
          <a:ext cx="3517558" cy="4541520"/>
        </p:xfrm>
        <a:graphic>
          <a:graphicData uri="http://schemas.openxmlformats.org/drawingml/2006/table">
            <a:tbl>
              <a:tblPr firstRow="1" bandRow="1"/>
              <a:tblGrid>
                <a:gridCol w="1001806">
                  <a:extLst>
                    <a:ext uri="{9D8B030D-6E8A-4147-A177-3AD203B41FA5}">
                      <a16:colId xmlns:a16="http://schemas.microsoft.com/office/drawing/2014/main" val="1432364511"/>
                    </a:ext>
                  </a:extLst>
                </a:gridCol>
                <a:gridCol w="2515752">
                  <a:extLst>
                    <a:ext uri="{9D8B030D-6E8A-4147-A177-3AD203B41FA5}">
                      <a16:colId xmlns:a16="http://schemas.microsoft.com/office/drawing/2014/main" val="3052839755"/>
                    </a:ext>
                  </a:extLst>
                </a:gridCol>
              </a:tblGrid>
              <a:tr h="2752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fr-FR" sz="1400" dirty="0"/>
                        <a:t>Java primitive data types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8853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Keyword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Description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[Range]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26476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Byte-length integer</a:t>
                      </a:r>
                    </a:p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[-128 , 127]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1961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Short integer</a:t>
                      </a:r>
                    </a:p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[-32768 , 32767]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7862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Integer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[–2147483648 , 2147483647]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59017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Long integer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[–9223372036854775808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9223372036854775807]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71212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Single-precision floating point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</a:rPr>
                        <a:t>–3.4*10</a:t>
                      </a:r>
                      <a:r>
                        <a:rPr lang="en-US" sz="1400" baseline="30000" dirty="0">
                          <a:solidFill>
                            <a:srgbClr val="FF0000"/>
                          </a:solidFill>
                        </a:rPr>
                        <a:t>38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, 3.4*10</a:t>
                      </a:r>
                      <a:r>
                        <a:rPr lang="en-US" sz="1400" baseline="30000" dirty="0">
                          <a:solidFill>
                            <a:srgbClr val="FF0000"/>
                          </a:solidFill>
                        </a:rPr>
                        <a:t>38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776229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Double-precision floating point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</a:rPr>
                        <a:t>–1.7*10</a:t>
                      </a:r>
                      <a:r>
                        <a:rPr lang="en-US" sz="1400" baseline="30000" dirty="0">
                          <a:solidFill>
                            <a:srgbClr val="FF0000"/>
                          </a:solidFill>
                        </a:rPr>
                        <a:t>308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, 1.7*10</a:t>
                      </a:r>
                      <a:r>
                        <a:rPr lang="en-US" sz="1400" baseline="30000" dirty="0">
                          <a:solidFill>
                            <a:srgbClr val="FF0000"/>
                          </a:solidFill>
                        </a:rPr>
                        <a:t>38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23785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A single character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91185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A Boolean value (true or false)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9888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305A8E-D919-74DA-B177-C8DF46E3D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4788306" cy="3048000"/>
          </a:xfrm>
        </p:spPr>
        <p:txBody>
          <a:bodyPr/>
          <a:lstStyle/>
          <a:p>
            <a:r>
              <a:rPr lang="en-GB" dirty="0"/>
              <a:t>There are </a:t>
            </a:r>
            <a:r>
              <a:rPr lang="en-GB" b="1" dirty="0"/>
              <a:t>eight</a:t>
            </a:r>
            <a:r>
              <a:rPr lang="en-GB" dirty="0"/>
              <a:t> primitive data types in Java.</a:t>
            </a:r>
          </a:p>
          <a:p>
            <a:pPr eaLnBrk="1" hangingPunct="1"/>
            <a:r>
              <a:rPr lang="en-US" altLang="en-US" dirty="0"/>
              <a:t>Variable declaration </a:t>
            </a:r>
          </a:p>
          <a:p>
            <a:pPr lvl="1" eaLnBrk="1" hangingPunct="1"/>
            <a:r>
              <a:rPr lang="en-US" altLang="en-US" dirty="0"/>
              <a:t>A statement that reserves a named memory location, which includes:</a:t>
            </a:r>
          </a:p>
          <a:p>
            <a:pPr lvl="2" eaLnBrk="1" hangingPunct="1"/>
            <a:r>
              <a:rPr lang="en-US" altLang="en-US" dirty="0">
                <a:solidFill>
                  <a:srgbClr val="C6680A"/>
                </a:solidFill>
              </a:rPr>
              <a:t>Data type</a:t>
            </a:r>
          </a:p>
          <a:p>
            <a:pPr lvl="2" eaLnBrk="1" hangingPunct="1"/>
            <a:r>
              <a:rPr lang="en-US" altLang="en-US" dirty="0"/>
              <a:t>Identifier</a:t>
            </a:r>
          </a:p>
          <a:p>
            <a:pPr lvl="2" eaLnBrk="1" hangingPunct="1"/>
            <a:r>
              <a:rPr lang="en-US" altLang="en-US" dirty="0">
                <a:solidFill>
                  <a:srgbClr val="0070C0"/>
                </a:solidFill>
              </a:rPr>
              <a:t>Optional assignment operator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assigned value</a:t>
            </a:r>
          </a:p>
          <a:p>
            <a:pPr lvl="2" eaLnBrk="1" hangingPunct="1"/>
            <a:r>
              <a:rPr lang="en-US" altLang="en-US" dirty="0"/>
              <a:t>Ending semicolon</a:t>
            </a:r>
          </a:p>
        </p:txBody>
      </p:sp>
    </p:spTree>
    <p:extLst>
      <p:ext uri="{BB962C8B-B14F-4D97-AF65-F5344CB8AC3E}">
        <p14:creationId xmlns:p14="http://schemas.microsoft.com/office/powerpoint/2010/main" val="199575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GB" dirty="0"/>
              <a:t> (as a primitive data 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GB" dirty="0"/>
              <a:t> data type is used to hold any single character.</a:t>
            </a:r>
          </a:p>
          <a:p>
            <a:pPr lvl="1"/>
            <a:r>
              <a:rPr lang="en-GB" dirty="0"/>
              <a:t>A character could be a letter (E.g.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dirty="0">
                <a:latin typeface="Arial (Body)"/>
                <a:cs typeface="Courier New" panose="02070309020205020404" pitchFamily="49" charset="0"/>
              </a:rPr>
              <a:t>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GB" dirty="0"/>
              <a:t>),</a:t>
            </a:r>
          </a:p>
          <a:p>
            <a:pPr lvl="1"/>
            <a:r>
              <a:rPr lang="en-GB" dirty="0"/>
              <a:t>Or a digit (e.g. 1 or 2),</a:t>
            </a:r>
          </a:p>
          <a:p>
            <a:pPr lvl="1"/>
            <a:r>
              <a:rPr lang="en-GB" dirty="0"/>
              <a:t>Or even a punctuation mark (e.g. ! or ?).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GB" dirty="0"/>
              <a:t> literals must be surrounded by single quotation marks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‘ </a:t>
            </a:r>
            <a:r>
              <a:rPr lang="en-GB" dirty="0"/>
              <a:t>and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’</a:t>
            </a:r>
            <a:r>
              <a:rPr lang="en-GB" dirty="0"/>
              <a:t>). </a:t>
            </a:r>
          </a:p>
          <a:p>
            <a:r>
              <a:rPr lang="en-GB" dirty="0"/>
              <a:t>Characters can be compared by using relational operators.</a:t>
            </a:r>
          </a:p>
          <a:p>
            <a:pPr lvl="1"/>
            <a:r>
              <a:rPr lang="en-GB" dirty="0"/>
              <a:t>Such as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GB" dirty="0"/>
              <a:t>,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dirty="0"/>
              <a:t>,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dirty="0"/>
              <a:t>,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GB" dirty="0"/>
              <a:t>,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GB" dirty="0"/>
              <a:t> etc.</a:t>
            </a:r>
          </a:p>
          <a:p>
            <a:pPr lvl="1"/>
            <a:r>
              <a:rPr lang="en-GB" dirty="0"/>
              <a:t>Comparisons are evaluated alphabetically</a:t>
            </a:r>
          </a:p>
          <a:p>
            <a:pPr lvl="2"/>
            <a:r>
              <a:rPr lang="en-GB" dirty="0"/>
              <a:t>E.g. ‘A’ is smaller than ‘B’, and smaller than ‘a’.</a:t>
            </a:r>
          </a:p>
          <a:p>
            <a:pPr marL="914400" lvl="2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CharMain.java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97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8AEA-5C33-1297-78F9-243F60BC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7" y="411510"/>
            <a:ext cx="4391616" cy="857250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GB" dirty="0"/>
              <a:t> class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BD3D-3483-BC81-79B6-BBF347E28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1347614"/>
            <a:ext cx="4176464" cy="3103362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Contains standard methods for testing the values of characters.</a:t>
            </a:r>
          </a:p>
          <a:p>
            <a:r>
              <a:rPr lang="en-US" dirty="0">
                <a:latin typeface="Arial" charset="0"/>
                <a:cs typeface="Arial" charset="0"/>
              </a:rPr>
              <a:t>Methods that begin with “is”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Such as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isUpperCase()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Return a Boolean value that can be used in comparison statements.</a:t>
            </a:r>
          </a:p>
          <a:p>
            <a:r>
              <a:rPr lang="en-US" dirty="0">
                <a:latin typeface="Arial" charset="0"/>
                <a:cs typeface="Arial" charset="0"/>
              </a:rPr>
              <a:t>Methods that begin with “to”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Such as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toUpperCase()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Return a character that has been converted to the stated format.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CharacterInfo</a:t>
            </a:r>
            <a:r>
              <a:rPr lang="en-US" dirty="0">
                <a:solidFill>
                  <a:schemeClr val="tx1"/>
                </a:solidFill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BD85EE-67DD-8FE9-0B22-E80B05E962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086481"/>
              </p:ext>
            </p:extLst>
          </p:nvPr>
        </p:nvGraphicFramePr>
        <p:xfrm>
          <a:off x="4787153" y="87630"/>
          <a:ext cx="4208929" cy="4968240"/>
        </p:xfrm>
        <a:graphic>
          <a:graphicData uri="http://schemas.openxmlformats.org/drawingml/2006/table">
            <a:tbl>
              <a:tblPr firstRow="1" bandRow="1"/>
              <a:tblGrid>
                <a:gridCol w="1546412">
                  <a:extLst>
                    <a:ext uri="{9D8B030D-6E8A-4147-A177-3AD203B41FA5}">
                      <a16:colId xmlns:a16="http://schemas.microsoft.com/office/drawing/2014/main" val="1432364511"/>
                    </a:ext>
                  </a:extLst>
                </a:gridCol>
                <a:gridCol w="2662517">
                  <a:extLst>
                    <a:ext uri="{9D8B030D-6E8A-4147-A177-3AD203B41FA5}">
                      <a16:colId xmlns:a16="http://schemas.microsoft.com/office/drawing/2014/main" val="3052839755"/>
                    </a:ext>
                  </a:extLst>
                </a:gridCol>
              </a:tblGrid>
              <a:tr h="2752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fr-FR" sz="1400" dirty="0" err="1"/>
                        <a:t>Commonly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used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methods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8853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Method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Description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26476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isUpperCase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uppercase.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1961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toUpperCase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Convert (and return) a lowercase char into its uppercase format.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7862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isLowerCase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uppercase.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59017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toLowerCase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Convert (and return) a lowercase char into its uppercase format.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71212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isDigit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a digit (0-9).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776229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isLetter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a letter.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23785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isLetterOrDigit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a letter or digit.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91185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isWhitespace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/>
                        <a:t>Returns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dirty="0"/>
                        <a:t> if a char is whitespace (includes space, tab, newline, carriage return and form feed).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9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22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086C-B797-B851-D876-568DFE0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E2D4-5ECD-A796-5EFA-0D16F3D3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Truths and a Lie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dirty="0"/>
              <a:t> is a class, but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 is a data type.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dirty="0"/>
              <a:t> class method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isLowerCase()</a:t>
            </a:r>
            <a:r>
              <a:rPr lang="en-US" dirty="0"/>
              <a:t> returns the lowercase version of any uppercase character.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 variable holds the Unicode value for the Tab key,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isWhitespace() </a:t>
            </a:r>
            <a:r>
              <a:rPr lang="en-US" dirty="0"/>
              <a:t>would be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isLetterOrDigit() </a:t>
            </a:r>
            <a:r>
              <a:rPr lang="en-US" dirty="0"/>
              <a:t>would be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</a:t>
            </a:r>
            <a:r>
              <a:rPr lang="en-US" dirty="0"/>
              <a:t>The false statement is the second.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isLowerCase() </a:t>
            </a:r>
            <a:r>
              <a:rPr lang="en-US" dirty="0"/>
              <a:t>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16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086C-B797-B851-D876-568DFE0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E2D4-5ECD-A796-5EFA-0D16F3D3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class whose instances can hold only *one* single value,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‘8’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‘$’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use a(n) ___________ class.</a:t>
            </a:r>
          </a:p>
          <a:p>
            <a:pPr marL="0" indent="0">
              <a:buNone/>
            </a:pPr>
            <a:r>
              <a:rPr lang="en-US" dirty="0"/>
              <a:t>a.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Buffer </a:t>
            </a:r>
          </a:p>
          <a:p>
            <a:pPr marL="0" indent="0">
              <a:buNone/>
            </a:pPr>
            <a:r>
              <a:rPr lang="en-US" dirty="0"/>
              <a:t>b.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</a:p>
          <a:p>
            <a:pPr marL="0" indent="0">
              <a:buNone/>
            </a:pPr>
            <a:r>
              <a:rPr lang="en-US" dirty="0"/>
              <a:t>c.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None/>
            </a:pPr>
            <a:r>
              <a:rPr lang="en-US" dirty="0"/>
              <a:t>d.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d.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dirty="0"/>
              <a:t> class uses methods that manipulate and inspect single-character data.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90F526-E594-70F4-76E9-564C15DA7214}"/>
                  </a:ext>
                </a:extLst>
              </p14:cNvPr>
              <p14:cNvContentPartPr/>
              <p14:nvPr/>
            </p14:nvContentPartPr>
            <p14:xfrm>
              <a:off x="4714920" y="23004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90F526-E594-70F4-76E9-564C15DA72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5560" y="2291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92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D50-5FE2-151F-BD07-0F3AE6E2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data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5CB6-59F8-41CB-507D-BAC46E141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Since a string is constructed by a sequence of characters, so are they the same?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No</a:t>
            </a:r>
            <a:r>
              <a:rPr lang="en-GB" dirty="0"/>
              <a:t>, because:</a:t>
            </a:r>
          </a:p>
          <a:p>
            <a:pPr lvl="1"/>
            <a:r>
              <a:rPr lang="en-GB" dirty="0"/>
              <a:t>There is no such data type called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in Java.</a:t>
            </a:r>
          </a:p>
          <a:p>
            <a:pPr lvl="1"/>
            <a:r>
              <a:rPr lang="en-GB" dirty="0"/>
              <a:t>Instead, there is a class called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, it works with fixed-string data.</a:t>
            </a:r>
          </a:p>
          <a:p>
            <a:pPr lvl="1"/>
            <a:r>
              <a:rPr lang="en-GB" dirty="0"/>
              <a:t>Unlike how primitive data type variables can be saved in the memory, Java has a “different” way to store a String object.</a:t>
            </a:r>
          </a:p>
          <a:p>
            <a:pPr lvl="1"/>
            <a:r>
              <a:rPr lang="en-GB" dirty="0"/>
              <a:t>Because of that,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GB" dirty="0"/>
              <a:t> operator does *not* always return a correct answer.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r>
              <a:rPr lang="en-GB" dirty="0"/>
              <a:t>Code: StrMain.java (Example 1)</a:t>
            </a:r>
          </a:p>
        </p:txBody>
      </p:sp>
    </p:spTree>
    <p:extLst>
      <p:ext uri="{BB962C8B-B14F-4D97-AF65-F5344CB8AC3E}">
        <p14:creationId xmlns:p14="http://schemas.microsoft.com/office/powerpoint/2010/main" val="252537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D50-5FE2-151F-BD07-0F3AE6E2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data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5CB6-59F8-41CB-507D-BAC46E14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230252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is a class instead of a data type.</a:t>
            </a:r>
          </a:p>
          <a:p>
            <a:r>
              <a:rPr lang="en-US" dirty="0">
                <a:latin typeface="Arial" charset="0"/>
                <a:cs typeface="Arial" charset="0"/>
              </a:rPr>
              <a:t>Each created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is a class object.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variable name.</a:t>
            </a:r>
          </a:p>
          <a:p>
            <a:r>
              <a:rPr lang="en-US" dirty="0">
                <a:latin typeface="Arial" charset="0"/>
                <a:cs typeface="Arial" charset="0"/>
              </a:rPr>
              <a:t>A reference variable.</a:t>
            </a:r>
          </a:p>
          <a:p>
            <a:r>
              <a:rPr lang="en-US" dirty="0">
                <a:latin typeface="Arial" charset="0"/>
                <a:cs typeface="Arial" charset="0"/>
              </a:rPr>
              <a:t>Refers to a location in memory rather than to a particular value.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F6FED2-4627-DD66-4B83-26A17F6F045C}"/>
              </a:ext>
            </a:extLst>
          </p:cNvPr>
          <p:cNvSpPr/>
          <p:nvPr/>
        </p:nvSpPr>
        <p:spPr bwMode="auto">
          <a:xfrm>
            <a:off x="5050661" y="1943253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25071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3EC76-41EF-B61F-8D10-29E068BE9A9B}"/>
              </a:ext>
            </a:extLst>
          </p:cNvPr>
          <p:cNvSpPr txBox="1"/>
          <p:nvPr/>
        </p:nvSpPr>
        <p:spPr>
          <a:xfrm>
            <a:off x="4519097" y="1666254"/>
            <a:ext cx="2468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67890, named </a:t>
            </a:r>
            <a:r>
              <a:rPr lang="en-GB" sz="1200" b="0" dirty="0" err="1"/>
              <a:t>firstString</a:t>
            </a:r>
            <a:endParaRPr lang="en-GB" sz="1200" b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0248E16-2DD6-BD0B-8A69-98FE7967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537" y="1193724"/>
            <a:ext cx="3808927" cy="30777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0" dirty="0">
                <a:latin typeface="Arial Unicode MS"/>
                <a:ea typeface="JetBrains Mono"/>
              </a:rPr>
              <a:t>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new String(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JetBrains Mono"/>
              </a:rPr>
              <a:t>“Hello World”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64836-DAC2-8A8A-5481-98B88F405EF1}"/>
              </a:ext>
            </a:extLst>
          </p:cNvPr>
          <p:cNvSpPr/>
          <p:nvPr/>
        </p:nvSpPr>
        <p:spPr bwMode="auto">
          <a:xfrm>
            <a:off x="7115937" y="3137590"/>
            <a:ext cx="1405218" cy="39668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Hello World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8F6FD-DF8D-EC93-E67C-F1A6B1D6CA57}"/>
              </a:ext>
            </a:extLst>
          </p:cNvPr>
          <p:cNvSpPr txBox="1"/>
          <p:nvPr/>
        </p:nvSpPr>
        <p:spPr>
          <a:xfrm>
            <a:off x="7193257" y="2860591"/>
            <a:ext cx="125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25071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D09697D0-9AEA-C357-B015-F7E2141B9700}"/>
              </a:ext>
            </a:extLst>
          </p:cNvPr>
          <p:cNvCxnSpPr>
            <a:stCxn id="4" idx="3"/>
            <a:endCxn id="7" idx="1"/>
          </p:cNvCxnSpPr>
          <p:nvPr/>
        </p:nvCxnSpPr>
        <p:spPr bwMode="auto">
          <a:xfrm>
            <a:off x="6455879" y="2141597"/>
            <a:ext cx="660058" cy="1194337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8E2E5D-0C02-D365-D337-4DE5C29642BA}"/>
              </a:ext>
            </a:extLst>
          </p:cNvPr>
          <p:cNvSpPr txBox="1"/>
          <p:nvPr/>
        </p:nvSpPr>
        <p:spPr>
          <a:xfrm>
            <a:off x="5177116" y="2607105"/>
            <a:ext cx="154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 err="1"/>
              <a:t>firstString</a:t>
            </a:r>
            <a:r>
              <a:rPr lang="en-GB" sz="1200" b="0" dirty="0"/>
              <a:t> holds the address where “Hello World” is stored.</a:t>
            </a:r>
          </a:p>
        </p:txBody>
      </p:sp>
    </p:spTree>
    <p:extLst>
      <p:ext uri="{BB962C8B-B14F-4D97-AF65-F5344CB8AC3E}">
        <p14:creationId xmlns:p14="http://schemas.microsoft.com/office/powerpoint/2010/main" val="284369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D50-5FE2-151F-BD07-0F3AE6E2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data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5CB6-59F8-41CB-507D-BAC46E14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230252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is a class instead of a data type.</a:t>
            </a:r>
          </a:p>
          <a:p>
            <a:r>
              <a:rPr lang="en-US" dirty="0">
                <a:latin typeface="Arial" charset="0"/>
                <a:cs typeface="Arial" charset="0"/>
              </a:rPr>
              <a:t>Each created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is a class object.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variable name.</a:t>
            </a:r>
          </a:p>
          <a:p>
            <a:r>
              <a:rPr lang="en-US" dirty="0">
                <a:latin typeface="Arial" charset="0"/>
                <a:cs typeface="Arial" charset="0"/>
              </a:rPr>
              <a:t>A reference variable.</a:t>
            </a:r>
          </a:p>
          <a:p>
            <a:r>
              <a:rPr lang="en-US" dirty="0">
                <a:latin typeface="Arial" charset="0"/>
                <a:cs typeface="Arial" charset="0"/>
              </a:rPr>
              <a:t>Refers to a location in memory rather than to a particular value.</a:t>
            </a:r>
          </a:p>
          <a:p>
            <a:pPr marL="0" indent="0">
              <a:buNone/>
            </a:pPr>
            <a:r>
              <a:rPr lang="en-GB" dirty="0"/>
              <a:t>Assign a new value to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.</a:t>
            </a:r>
          </a:p>
          <a:p>
            <a:r>
              <a:rPr lang="en-US" dirty="0">
                <a:latin typeface="Arial" charset="0"/>
                <a:cs typeface="Arial" charset="0"/>
              </a:rPr>
              <a:t>The address held by the String is altered.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F6FED2-4627-DD66-4B83-26A17F6F045C}"/>
              </a:ext>
            </a:extLst>
          </p:cNvPr>
          <p:cNvSpPr/>
          <p:nvPr/>
        </p:nvSpPr>
        <p:spPr bwMode="auto">
          <a:xfrm>
            <a:off x="5050661" y="1943253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25071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3EC76-41EF-B61F-8D10-29E068BE9A9B}"/>
              </a:ext>
            </a:extLst>
          </p:cNvPr>
          <p:cNvSpPr txBox="1"/>
          <p:nvPr/>
        </p:nvSpPr>
        <p:spPr>
          <a:xfrm>
            <a:off x="4519097" y="1666254"/>
            <a:ext cx="2468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67890, named </a:t>
            </a:r>
            <a:r>
              <a:rPr lang="en-GB" sz="1200" b="0" dirty="0" err="1"/>
              <a:t>firstString</a:t>
            </a:r>
            <a:endParaRPr lang="en-GB" sz="1200" b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0248E16-2DD6-BD0B-8A69-98FE7967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537" y="1086003"/>
            <a:ext cx="3808927" cy="52322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0" dirty="0">
                <a:latin typeface="Arial Unicode MS"/>
                <a:ea typeface="JetBrains Mono"/>
              </a:rPr>
              <a:t>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new String(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JetBrains Mono"/>
              </a:rPr>
              <a:t>“Hello World”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= new String(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JetBrains Mono"/>
              </a:rPr>
              <a:t>“Hello Java”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64836-DAC2-8A8A-5481-98B88F405EF1}"/>
              </a:ext>
            </a:extLst>
          </p:cNvPr>
          <p:cNvSpPr/>
          <p:nvPr/>
        </p:nvSpPr>
        <p:spPr bwMode="auto">
          <a:xfrm>
            <a:off x="7115937" y="3137590"/>
            <a:ext cx="1405218" cy="39668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Hello World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8F6FD-DF8D-EC93-E67C-F1A6B1D6CA57}"/>
              </a:ext>
            </a:extLst>
          </p:cNvPr>
          <p:cNvSpPr txBox="1"/>
          <p:nvPr/>
        </p:nvSpPr>
        <p:spPr>
          <a:xfrm>
            <a:off x="7193257" y="2860591"/>
            <a:ext cx="125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25071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D09697D0-9AEA-C357-B015-F7E2141B9700}"/>
              </a:ext>
            </a:extLst>
          </p:cNvPr>
          <p:cNvCxnSpPr>
            <a:stCxn id="4" idx="3"/>
            <a:endCxn id="7" idx="1"/>
          </p:cNvCxnSpPr>
          <p:nvPr/>
        </p:nvCxnSpPr>
        <p:spPr bwMode="auto">
          <a:xfrm>
            <a:off x="6455879" y="2141597"/>
            <a:ext cx="660058" cy="1194337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8E2E5D-0C02-D365-D337-4DE5C29642BA}"/>
              </a:ext>
            </a:extLst>
          </p:cNvPr>
          <p:cNvSpPr txBox="1"/>
          <p:nvPr/>
        </p:nvSpPr>
        <p:spPr>
          <a:xfrm>
            <a:off x="5177116" y="2607105"/>
            <a:ext cx="154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 err="1"/>
              <a:t>firstString</a:t>
            </a:r>
            <a:r>
              <a:rPr lang="en-GB" sz="1200" b="0" dirty="0"/>
              <a:t> holds the address where “Hello World” is stored.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CED08-43D0-D118-DFBD-35EB0725F7B7}"/>
              </a:ext>
            </a:extLst>
          </p:cNvPr>
          <p:cNvSpPr/>
          <p:nvPr/>
        </p:nvSpPr>
        <p:spPr bwMode="auto">
          <a:xfrm>
            <a:off x="7115937" y="4057497"/>
            <a:ext cx="1405218" cy="396688"/>
          </a:xfrm>
          <a:prstGeom prst="rect">
            <a:avLst/>
          </a:prstGeom>
          <a:solidFill>
            <a:srgbClr val="489EB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Hello Java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9696EE-91F9-12FF-11C8-C5251A472C98}"/>
              </a:ext>
            </a:extLst>
          </p:cNvPr>
          <p:cNvSpPr txBox="1"/>
          <p:nvPr/>
        </p:nvSpPr>
        <p:spPr>
          <a:xfrm>
            <a:off x="7193257" y="3780498"/>
            <a:ext cx="125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25072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FDDCC0F-6F75-7A44-4B9C-F416B1CDC887}"/>
              </a:ext>
            </a:extLst>
          </p:cNvPr>
          <p:cNvCxnSpPr>
            <a:stCxn id="4" idx="3"/>
            <a:endCxn id="12" idx="1"/>
          </p:cNvCxnSpPr>
          <p:nvPr/>
        </p:nvCxnSpPr>
        <p:spPr bwMode="auto">
          <a:xfrm>
            <a:off x="6455879" y="2141597"/>
            <a:ext cx="660058" cy="2114244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EE49C20-CD25-DF9B-667C-C909C106C3CD}"/>
              </a:ext>
            </a:extLst>
          </p:cNvPr>
          <p:cNvSpPr txBox="1"/>
          <p:nvPr/>
        </p:nvSpPr>
        <p:spPr>
          <a:xfrm>
            <a:off x="5177116" y="3139479"/>
            <a:ext cx="154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 err="1"/>
              <a:t>firstString</a:t>
            </a:r>
            <a:r>
              <a:rPr lang="en-GB" sz="1200" b="0" dirty="0"/>
              <a:t> holds the address where “Hello Java” is stored.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1DC433-8F61-D588-B785-EB2255777E5F}"/>
              </a:ext>
            </a:extLst>
          </p:cNvPr>
          <p:cNvSpPr/>
          <p:nvPr/>
        </p:nvSpPr>
        <p:spPr bwMode="auto">
          <a:xfrm>
            <a:off x="5050661" y="1944479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25072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7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11" grpId="0"/>
      <p:bldP spid="11" grpId="1"/>
      <p:bldP spid="12" grpId="0" animBg="1"/>
      <p:bldP spid="13" grpId="0"/>
      <p:bldP spid="15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A3DD-4001-8867-9132-025461A0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data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4A12-1169-FF60-BFC6-B07EC0DB3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3920970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object is immutable</a:t>
            </a:r>
          </a:p>
          <a:p>
            <a:r>
              <a:rPr lang="en-GB" dirty="0"/>
              <a:t>The “Hello World” string never changed and cannot be changed.</a:t>
            </a:r>
          </a:p>
          <a:p>
            <a:r>
              <a:rPr lang="en-GB" dirty="0"/>
              <a:t>Making simple comparisons between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s often produces misleading results.</a:t>
            </a:r>
          </a:p>
          <a:p>
            <a:r>
              <a:rPr lang="en-GB" dirty="0"/>
              <a:t>Comparing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s 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GB" dirty="0"/>
              <a:t> operator compares memory addresses instead of values.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Code</a:t>
            </a:r>
            <a:r>
              <a:rPr lang="en-GB"/>
              <a:t>: StrMain.java (Example2)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E7F63B-1BF4-93AC-801E-27E6B8D6ED00}"/>
              </a:ext>
            </a:extLst>
          </p:cNvPr>
          <p:cNvSpPr/>
          <p:nvPr/>
        </p:nvSpPr>
        <p:spPr bwMode="auto">
          <a:xfrm>
            <a:off x="5066145" y="1775165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25071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0645D-1141-4359-0091-9AAB41197125}"/>
              </a:ext>
            </a:extLst>
          </p:cNvPr>
          <p:cNvSpPr txBox="1"/>
          <p:nvPr/>
        </p:nvSpPr>
        <p:spPr>
          <a:xfrm>
            <a:off x="4534581" y="1498166"/>
            <a:ext cx="2468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67890, named </a:t>
            </a:r>
            <a:r>
              <a:rPr lang="en-GB" sz="1200" b="0" dirty="0" err="1"/>
              <a:t>firstString</a:t>
            </a:r>
            <a:endParaRPr lang="en-GB" sz="1200" b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1ED4C15-497F-1F70-81D8-952CF339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917915"/>
            <a:ext cx="4191948" cy="52322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b="0" dirty="0">
                <a:latin typeface="Arial Unicode MS"/>
                <a:ea typeface="JetBrains Mono"/>
              </a:rPr>
              <a:t>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new String(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JetBrains Mono"/>
              </a:rPr>
              <a:t>“Hello World”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r>
              <a:rPr lang="en-US" altLang="en-US" sz="1400" b="0" dirty="0">
                <a:latin typeface="Arial Unicode MS"/>
                <a:ea typeface="JetBrains Mono"/>
              </a:rPr>
              <a:t>String</a:t>
            </a:r>
            <a:r>
              <a:rPr lang="en-US" altLang="en-US" sz="1400" b="0" dirty="0">
                <a:solidFill>
                  <a:srgbClr val="0033B3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400" b="0" dirty="0" err="1">
                <a:solidFill>
                  <a:srgbClr val="000000"/>
                </a:solidFill>
                <a:latin typeface="Arial Unicode MS"/>
                <a:ea typeface="JetBrains Mono"/>
              </a:rPr>
              <a:t>secondString</a:t>
            </a:r>
            <a:r>
              <a:rPr lang="en-US" altLang="en-US" sz="1400" b="0" dirty="0">
                <a:solidFill>
                  <a:srgbClr val="000000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400" b="0" dirty="0">
                <a:solidFill>
                  <a:srgbClr val="080808"/>
                </a:solidFill>
                <a:latin typeface="Arial Unicode MS"/>
                <a:ea typeface="JetBrains Mono"/>
              </a:rPr>
              <a:t>= new String(</a:t>
            </a:r>
            <a:r>
              <a:rPr lang="en-US" altLang="en-US" sz="1400" b="0" dirty="0">
                <a:solidFill>
                  <a:srgbClr val="00B050"/>
                </a:solidFill>
                <a:latin typeface="Arial Unicode MS"/>
                <a:ea typeface="JetBrains Mono"/>
              </a:rPr>
              <a:t>“Hello World”</a:t>
            </a:r>
            <a:r>
              <a:rPr lang="en-US" altLang="en-US" sz="1400" b="0" dirty="0">
                <a:latin typeface="Arial Unicode MS"/>
                <a:ea typeface="JetBrains Mono"/>
              </a:rPr>
              <a:t>)</a:t>
            </a:r>
            <a:r>
              <a:rPr lang="en-US" altLang="en-US" sz="1400" b="0" dirty="0">
                <a:solidFill>
                  <a:srgbClr val="080808"/>
                </a:solidFill>
                <a:latin typeface="Arial Unicode MS"/>
                <a:ea typeface="JetBrains Mono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E7DAC-39FF-5470-8F41-5B1FC732F99B}"/>
              </a:ext>
            </a:extLst>
          </p:cNvPr>
          <p:cNvSpPr/>
          <p:nvPr/>
        </p:nvSpPr>
        <p:spPr bwMode="auto">
          <a:xfrm>
            <a:off x="7131421" y="2969502"/>
            <a:ext cx="1405218" cy="39668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Hello World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496F3-2CC3-5509-2196-4C01F6E0A7F3}"/>
              </a:ext>
            </a:extLst>
          </p:cNvPr>
          <p:cNvSpPr txBox="1"/>
          <p:nvPr/>
        </p:nvSpPr>
        <p:spPr>
          <a:xfrm>
            <a:off x="7208741" y="2692503"/>
            <a:ext cx="125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25071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3AB76F6-1E95-3A4B-5798-FDE135740755}"/>
              </a:ext>
            </a:extLst>
          </p:cNvPr>
          <p:cNvCxnSpPr>
            <a:stCxn id="4" idx="3"/>
            <a:endCxn id="7" idx="1"/>
          </p:cNvCxnSpPr>
          <p:nvPr/>
        </p:nvCxnSpPr>
        <p:spPr bwMode="auto">
          <a:xfrm>
            <a:off x="6471363" y="1973509"/>
            <a:ext cx="660058" cy="1194337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843EA4-B84D-70B9-05B9-7D75B60B5750}"/>
              </a:ext>
            </a:extLst>
          </p:cNvPr>
          <p:cNvSpPr txBox="1"/>
          <p:nvPr/>
        </p:nvSpPr>
        <p:spPr>
          <a:xfrm>
            <a:off x="5192599" y="2240144"/>
            <a:ext cx="154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 err="1"/>
              <a:t>firstString</a:t>
            </a:r>
            <a:r>
              <a:rPr lang="en-GB" sz="1200" b="0" dirty="0"/>
              <a:t> holds the address where “</a:t>
            </a:r>
            <a:r>
              <a:rPr lang="en-GB" sz="1200" b="0" dirty="0">
                <a:highlight>
                  <a:srgbClr val="FFFF00"/>
                </a:highlight>
              </a:rPr>
              <a:t>Hello World</a:t>
            </a:r>
            <a:r>
              <a:rPr lang="en-GB" sz="1200" b="0" dirty="0"/>
              <a:t>” is stored.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1AFF5-442A-95A2-1F0E-001C692657DD}"/>
              </a:ext>
            </a:extLst>
          </p:cNvPr>
          <p:cNvSpPr/>
          <p:nvPr/>
        </p:nvSpPr>
        <p:spPr bwMode="auto">
          <a:xfrm>
            <a:off x="5066145" y="3442031"/>
            <a:ext cx="1405218" cy="396688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25073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0F71B-EAB7-952B-4F8E-B35E0CFCC246}"/>
              </a:ext>
            </a:extLst>
          </p:cNvPr>
          <p:cNvSpPr txBox="1"/>
          <p:nvPr/>
        </p:nvSpPr>
        <p:spPr>
          <a:xfrm>
            <a:off x="4269441" y="3165032"/>
            <a:ext cx="2733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67891, named </a:t>
            </a:r>
            <a:r>
              <a:rPr lang="en-GB" sz="1200" b="0" dirty="0" err="1"/>
              <a:t>secondString</a:t>
            </a:r>
            <a:endParaRPr lang="en-GB" sz="1200" b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38FF2-0AD9-969A-C016-243DE8B622A8}"/>
              </a:ext>
            </a:extLst>
          </p:cNvPr>
          <p:cNvSpPr/>
          <p:nvPr/>
        </p:nvSpPr>
        <p:spPr bwMode="auto">
          <a:xfrm>
            <a:off x="7131421" y="4636368"/>
            <a:ext cx="1405218" cy="396688"/>
          </a:xfrm>
          <a:prstGeom prst="rect">
            <a:avLst/>
          </a:prstGeom>
          <a:solidFill>
            <a:srgbClr val="99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Hello World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137BA-8E53-BF82-56B6-B0ACAD82B897}"/>
              </a:ext>
            </a:extLst>
          </p:cNvPr>
          <p:cNvSpPr txBox="1"/>
          <p:nvPr/>
        </p:nvSpPr>
        <p:spPr>
          <a:xfrm>
            <a:off x="7208741" y="4359369"/>
            <a:ext cx="1250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25073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C49ADEC-C9F0-8053-0BA6-04D5391AED72}"/>
              </a:ext>
            </a:extLst>
          </p:cNvPr>
          <p:cNvCxnSpPr>
            <a:stCxn id="11" idx="3"/>
            <a:endCxn id="13" idx="1"/>
          </p:cNvCxnSpPr>
          <p:nvPr/>
        </p:nvCxnSpPr>
        <p:spPr bwMode="auto">
          <a:xfrm>
            <a:off x="6471363" y="3640375"/>
            <a:ext cx="660058" cy="1194337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C9A7E5-82F0-7D7B-954A-9AFD2918EB95}"/>
              </a:ext>
            </a:extLst>
          </p:cNvPr>
          <p:cNvSpPr txBox="1"/>
          <p:nvPr/>
        </p:nvSpPr>
        <p:spPr>
          <a:xfrm>
            <a:off x="5192599" y="3919321"/>
            <a:ext cx="154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 err="1"/>
              <a:t>secondString</a:t>
            </a:r>
            <a:r>
              <a:rPr lang="en-GB" sz="1200" b="0" dirty="0"/>
              <a:t> holds the address where “</a:t>
            </a:r>
            <a:r>
              <a:rPr lang="en-GB" sz="1200" b="0" dirty="0">
                <a:highlight>
                  <a:srgbClr val="9966FF"/>
                </a:highlight>
              </a:rPr>
              <a:t>Hello World</a:t>
            </a:r>
            <a:r>
              <a:rPr lang="en-GB" sz="1200" b="0" dirty="0"/>
              <a:t>” is stored.</a:t>
            </a:r>
          </a:p>
        </p:txBody>
      </p:sp>
    </p:spTree>
    <p:extLst>
      <p:ext uri="{BB962C8B-B14F-4D97-AF65-F5344CB8AC3E}">
        <p14:creationId xmlns:p14="http://schemas.microsoft.com/office/powerpoint/2010/main" val="139912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10" grpId="0"/>
      <p:bldP spid="11" grpId="0" animBg="1"/>
      <p:bldP spid="12" grpId="0"/>
      <p:bldP spid="13" grpId="0" animBg="1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71E4-60C3-45C4-BEFF-AE01539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Declare/initialise String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319C-A427-497D-AA67-27BD32E5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8250923" cy="2952328"/>
          </a:xfrm>
        </p:spPr>
        <p:txBody>
          <a:bodyPr/>
          <a:lstStyle/>
          <a:p>
            <a:r>
              <a:rPr lang="en-GB" dirty="0"/>
              <a:t>Two methods to create a String:</a:t>
            </a:r>
          </a:p>
          <a:p>
            <a:pPr lvl="1"/>
            <a:r>
              <a:rPr lang="en-GB" dirty="0"/>
              <a:t>Literal: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 firstString = “Hello World”;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Check the existing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string-pool</a:t>
            </a:r>
            <a:r>
              <a:rPr lang="en-GB" dirty="0">
                <a:solidFill>
                  <a:schemeClr val="tx1"/>
                </a:solidFill>
              </a:rPr>
              <a:t> and see if there is an existing value called “</a:t>
            </a:r>
            <a:r>
              <a:rPr lang="en-GB" dirty="0" err="1">
                <a:solidFill>
                  <a:schemeClr val="tx1"/>
                </a:solidFill>
              </a:rPr>
              <a:t>Hellow</a:t>
            </a:r>
            <a:r>
              <a:rPr lang="en-GB" dirty="0">
                <a:solidFill>
                  <a:schemeClr val="tx1"/>
                </a:solidFill>
              </a:rPr>
              <a:t> World”.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If there is, simply return its reference.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Otherwise, create a new object in the pool.</a:t>
            </a:r>
          </a:p>
          <a:p>
            <a:pPr lvl="1"/>
            <a:r>
              <a:rPr lang="en-GB" dirty="0"/>
              <a:t>Using constructor: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 firstString = new String (“Hello World”);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Always create a new object.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58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71E4-60C3-45C4-BEFF-AE01539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Declare/initialise String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319C-A427-497D-AA67-27BD32E5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8250923" cy="32654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Literal vs Constructor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C5ACCB-0636-30BC-2D6F-C93029035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898" y="2481600"/>
            <a:ext cx="2811589" cy="78483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firstString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00" dirty="0">
                <a:solidFill>
                  <a:srgbClr val="080808"/>
                </a:solidFill>
                <a:latin typeface="Arial Unicode MS"/>
              </a:rPr>
              <a:t>Output: true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D6235C-49ED-650B-4FF1-7A0CAEC93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122" y="2481616"/>
            <a:ext cx="2803712" cy="78483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firstString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0" dirty="0">
              <a:solidFill>
                <a:srgbClr val="080808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</a:rPr>
              <a:t>Output: false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44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EBC3-4188-3E7D-04BC-8497AED3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4934"/>
            <a:ext cx="7772400" cy="857250"/>
          </a:xfrm>
        </p:spPr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81FB-D49A-5DBD-0BD0-EC93D4769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951047"/>
            <a:ext cx="7772400" cy="16185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What is the output of the above code?</a:t>
            </a:r>
          </a:p>
          <a:p>
            <a:pPr marL="0" indent="0">
              <a:buNone/>
            </a:pPr>
            <a:r>
              <a:rPr lang="en-GB" b="1" dirty="0"/>
              <a:t>a. </a:t>
            </a:r>
            <a:r>
              <a:rPr lang="en-GB" dirty="0"/>
              <a:t>true</a:t>
            </a:r>
          </a:p>
          <a:p>
            <a:pPr marL="0" indent="0">
              <a:buNone/>
            </a:pPr>
            <a:r>
              <a:rPr lang="en-GB" b="1" dirty="0"/>
              <a:t>b. </a:t>
            </a:r>
            <a:r>
              <a:rPr lang="en-GB" dirty="0"/>
              <a:t>false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Answer:</a:t>
            </a:r>
            <a:r>
              <a:rPr lang="en-GB" dirty="0"/>
              <a:t> </a:t>
            </a:r>
            <a:r>
              <a:rPr lang="en-GB" b="1" dirty="0"/>
              <a:t>b</a:t>
            </a:r>
            <a:r>
              <a:rPr lang="en-GB" dirty="0"/>
              <a:t>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9C47CD-F47D-C52E-F093-C3B8B6C78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702" y="1029587"/>
            <a:ext cx="4727065" cy="83099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firstString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secondString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BA615-6BE9-41A5-A41F-4A11937E5F0F}"/>
              </a:ext>
            </a:extLst>
          </p:cNvPr>
          <p:cNvSpPr txBox="1"/>
          <p:nvPr/>
        </p:nvSpPr>
        <p:spPr>
          <a:xfrm>
            <a:off x="1288984" y="3821525"/>
            <a:ext cx="6714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Conclusion: </a:t>
            </a:r>
            <a:r>
              <a:rPr lang="en-GB" sz="1600" b="0" dirty="0"/>
              <a:t>Avoid using the constructor unless you have a specific reason to do so. Moreover, do NOT use == to compare two Strings.</a:t>
            </a:r>
          </a:p>
        </p:txBody>
      </p:sp>
    </p:spTree>
    <p:extLst>
      <p:ext uri="{BB962C8B-B14F-4D97-AF65-F5344CB8AC3E}">
        <p14:creationId xmlns:p14="http://schemas.microsoft.com/office/powerpoint/2010/main" val="277423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71E4-60C3-45C4-BEFF-AE015398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Declare/initialise String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319C-A427-497D-AA67-27BD32E5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8250923" cy="2952328"/>
          </a:xfrm>
        </p:spPr>
        <p:txBody>
          <a:bodyPr/>
          <a:lstStyle/>
          <a:p>
            <a:r>
              <a:rPr lang="en-GB" dirty="0"/>
              <a:t>Set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s to empty</a:t>
            </a:r>
          </a:p>
          <a:p>
            <a:pPr lvl="1"/>
            <a:r>
              <a:rPr lang="en-GB" dirty="0"/>
              <a:t>Reference a memory address with no characters.</a:t>
            </a:r>
          </a:p>
          <a:p>
            <a:pPr lvl="1"/>
            <a:r>
              <a:rPr lang="en-GB" dirty="0"/>
              <a:t>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 firstString = “”;</a:t>
            </a:r>
          </a:p>
          <a:p>
            <a:pPr marL="457200" lvl="1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Set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s to null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s are set to null by default.</a:t>
            </a:r>
          </a:p>
          <a:p>
            <a:pPr lvl="1"/>
            <a:r>
              <a:rPr lang="en-GB" dirty="0"/>
              <a:t>Do not hold a memory address.</a:t>
            </a:r>
          </a:p>
          <a:p>
            <a:pPr lvl="1"/>
            <a:r>
              <a:rPr lang="en-GB" dirty="0"/>
              <a:t>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 firstString; </a:t>
            </a:r>
            <a:r>
              <a:rPr lang="en-GB" dirty="0"/>
              <a:t>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String firstString = null; </a:t>
            </a:r>
          </a:p>
          <a:p>
            <a:pPr marL="457200" lvl="1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346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8DDB-9EF6-338D-5259-90E005B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BB1-487F-7DB1-4ADC-D9E7AF20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r>
              <a:rPr lang="en-US" dirty="0">
                <a:latin typeface="Arial" charset="0"/>
                <a:cs typeface="Arial" charset="0"/>
              </a:rPr>
              <a:t>Evaluates the contents of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objects to determine if they are equivalent.</a:t>
            </a:r>
          </a:p>
          <a:p>
            <a:r>
              <a:rPr lang="en-US" dirty="0">
                <a:latin typeface="Arial" charset="0"/>
                <a:cs typeface="Arial" charset="0"/>
              </a:rPr>
              <a:t>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Arial" charset="0"/>
                <a:cs typeface="Arial" charset="0"/>
              </a:rPr>
              <a:t> if objects have identical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charset="0"/>
                <a:cs typeface="Arial" charset="0"/>
              </a:rPr>
              <a:t>contents</a:t>
            </a:r>
            <a:r>
              <a:rPr lang="en-US" dirty="0">
                <a:latin typeface="Arial" charset="0"/>
                <a:cs typeface="Arial" charset="0"/>
              </a:rPr>
              <a:t>.</a:t>
            </a:r>
          </a:p>
          <a:p>
            <a:r>
              <a:rPr lang="en-GB" dirty="0"/>
              <a:t>E.g.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firstString.equals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secondString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equalsIgnoreCase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r>
              <a:rPr lang="en-US" dirty="0">
                <a:latin typeface="Arial" charset="0"/>
                <a:cs typeface="Arial" charset="0"/>
              </a:rPr>
              <a:t>Ignores case when determining if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charset="0"/>
                <a:cs typeface="Arial" charset="0"/>
              </a:rPr>
              <a:t> are equivalent.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Useful when users type responses to prompts in programs.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332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8DDB-9EF6-338D-5259-90E005B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BB1-487F-7DB1-4ADC-D9E7AF20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496439"/>
          </a:xfrm>
        </p:spPr>
        <p:txBody>
          <a:bodyPr/>
          <a:lstStyle/>
          <a:p>
            <a:pPr marL="0" indent="0">
              <a:buNone/>
            </a:pP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Compares two Strings and returns:</a:t>
            </a:r>
          </a:p>
          <a:p>
            <a:pPr lvl="1"/>
            <a:r>
              <a:rPr lang="en-GB" dirty="0">
                <a:latin typeface="Arial" charset="0"/>
                <a:cs typeface="Arial" charset="0"/>
              </a:rPr>
              <a:t>Zero: </a:t>
            </a:r>
            <a:r>
              <a:rPr lang="en-US" dirty="0">
                <a:latin typeface="Arial" charset="0"/>
                <a:cs typeface="Arial" charset="0"/>
              </a:rPr>
              <a:t>If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charset="0"/>
                <a:cs typeface="Arial" charset="0"/>
              </a:rPr>
              <a:t> refer to the same value.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Negative number: If the calling object is “less than” the argument.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Positive number: If the calling object is “more than” the argument.</a:t>
            </a:r>
            <a:r>
              <a:rPr lang="en-GB" dirty="0">
                <a:latin typeface="Arial" charset="0"/>
                <a:cs typeface="Arial" charset="0"/>
              </a:rPr>
              <a:t>	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96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CEDE6B8-BD50-D372-943A-F43F3B11F014}"/>
              </a:ext>
            </a:extLst>
          </p:cNvPr>
          <p:cNvGrpSpPr/>
          <p:nvPr/>
        </p:nvGrpSpPr>
        <p:grpSpPr>
          <a:xfrm>
            <a:off x="6501653" y="2454089"/>
            <a:ext cx="2163345" cy="2225487"/>
            <a:chOff x="6501653" y="2454089"/>
            <a:chExt cx="2163345" cy="222548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44A0791-3457-A067-B594-307C0607437E}"/>
                </a:ext>
              </a:extLst>
            </p:cNvPr>
            <p:cNvSpPr/>
            <p:nvPr/>
          </p:nvSpPr>
          <p:spPr bwMode="auto">
            <a:xfrm>
              <a:off x="6501653" y="2758523"/>
              <a:ext cx="2163345" cy="1921053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A92455-7F9B-D0E7-241E-5458955B0403}"/>
                </a:ext>
              </a:extLst>
            </p:cNvPr>
            <p:cNvSpPr txBox="1"/>
            <p:nvPr/>
          </p:nvSpPr>
          <p:spPr>
            <a:xfrm>
              <a:off x="7086854" y="2454089"/>
              <a:ext cx="9929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/>
                <a:t>String Pool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81A8DDB-9EF6-338D-5259-90E005B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BB1-487F-7DB1-4ADC-D9E7AF20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5"/>
            <a:ext cx="7772400" cy="11064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toUpperCase() </a:t>
            </a:r>
            <a:r>
              <a:rPr lang="en-US" b="1" dirty="0">
                <a:solidFill>
                  <a:srgbClr val="0070C0"/>
                </a:solidFill>
              </a:rPr>
              <a:t>and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toLowerCase() </a:t>
            </a:r>
            <a:r>
              <a:rPr lang="en-US" b="1" dirty="0">
                <a:solidFill>
                  <a:srgbClr val="0070C0"/>
                </a:solidFill>
              </a:rPr>
              <a:t>methods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Convert any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 dirty="0">
                <a:latin typeface="Arial" charset="0"/>
                <a:cs typeface="Arial" charset="0"/>
              </a:rPr>
              <a:t> to its uppercase or lowercase equivalent.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Wait!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 dirty="0">
                <a:latin typeface="Arial" charset="0"/>
                <a:cs typeface="Arial" charset="0"/>
              </a:rPr>
              <a:t> is immutable, so how it works inside your memory?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2C98AF-1CA0-6A24-8453-B7122D41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002" y="3161172"/>
            <a:ext cx="2459181" cy="57708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firstString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"HELLO WORLD"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.toLowerCase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firstString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.toUpperCase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987BA-829C-BF9B-5DA1-5BE3607A1EB2}"/>
              </a:ext>
            </a:extLst>
          </p:cNvPr>
          <p:cNvSpPr/>
          <p:nvPr/>
        </p:nvSpPr>
        <p:spPr bwMode="auto">
          <a:xfrm>
            <a:off x="3793806" y="3477942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25071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67949-7DE0-91EF-C083-6F52FD0987B1}"/>
              </a:ext>
            </a:extLst>
          </p:cNvPr>
          <p:cNvSpPr txBox="1"/>
          <p:nvPr/>
        </p:nvSpPr>
        <p:spPr>
          <a:xfrm>
            <a:off x="3262242" y="3200943"/>
            <a:ext cx="2468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0" dirty="0"/>
              <a:t>Address 67890, named </a:t>
            </a:r>
            <a:r>
              <a:rPr lang="en-GB" sz="1200" b="0" dirty="0" err="1"/>
              <a:t>firstString</a:t>
            </a:r>
            <a:endParaRPr lang="en-GB" sz="1200" b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79D9F5-D02C-B644-6C7A-57D08A011A64}"/>
              </a:ext>
            </a:extLst>
          </p:cNvPr>
          <p:cNvGrpSpPr/>
          <p:nvPr/>
        </p:nvGrpSpPr>
        <p:grpSpPr>
          <a:xfrm>
            <a:off x="6638565" y="2878213"/>
            <a:ext cx="1893594" cy="673687"/>
            <a:chOff x="6638565" y="2878213"/>
            <a:chExt cx="1893594" cy="6736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BF7957-09A7-1D09-5536-F4B40ED94603}"/>
                </a:ext>
              </a:extLst>
            </p:cNvPr>
            <p:cNvSpPr/>
            <p:nvPr/>
          </p:nvSpPr>
          <p:spPr bwMode="auto">
            <a:xfrm>
              <a:off x="6638565" y="3155212"/>
              <a:ext cx="1893594" cy="39668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HELLO WORLD</a:t>
              </a:r>
              <a:endParaRPr kumimoji="0" lang="en-GB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A3466C-A2E6-6698-07AE-6B5D95F5E037}"/>
                </a:ext>
              </a:extLst>
            </p:cNvPr>
            <p:cNvSpPr txBox="1"/>
            <p:nvPr/>
          </p:nvSpPr>
          <p:spPr>
            <a:xfrm>
              <a:off x="6960073" y="2878213"/>
              <a:ext cx="1250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/>
                <a:t>Address 25071</a:t>
              </a:r>
            </a:p>
          </p:txBody>
        </p:sp>
      </p:grp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8E48ECD1-14C5-7107-8D9E-525AF5D2CB8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 bwMode="auto">
          <a:xfrm flipV="1">
            <a:off x="5199024" y="3353556"/>
            <a:ext cx="1439541" cy="322730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F7B125-6CC1-469B-0E64-F4F9326D5D32}"/>
              </a:ext>
            </a:extLst>
          </p:cNvPr>
          <p:cNvGrpSpPr/>
          <p:nvPr/>
        </p:nvGrpSpPr>
        <p:grpSpPr>
          <a:xfrm>
            <a:off x="6638565" y="3751671"/>
            <a:ext cx="1893594" cy="673687"/>
            <a:chOff x="6638565" y="3751671"/>
            <a:chExt cx="1893594" cy="6736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1E03AF-B7E8-9C89-53C3-04A666252B4E}"/>
                </a:ext>
              </a:extLst>
            </p:cNvPr>
            <p:cNvSpPr/>
            <p:nvPr/>
          </p:nvSpPr>
          <p:spPr bwMode="auto">
            <a:xfrm>
              <a:off x="6638565" y="4028670"/>
              <a:ext cx="1893594" cy="39668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800" b="0" dirty="0">
                  <a:solidFill>
                    <a:srgbClr val="FF0000"/>
                  </a:solidFill>
                  <a:latin typeface="Arial" charset="0"/>
                </a:rPr>
                <a:t>hello world</a:t>
              </a:r>
              <a:endParaRPr kumimoji="0" lang="en-GB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F15F99-6647-BDEE-1291-A16A5F1105E4}"/>
                </a:ext>
              </a:extLst>
            </p:cNvPr>
            <p:cNvSpPr txBox="1"/>
            <p:nvPr/>
          </p:nvSpPr>
          <p:spPr>
            <a:xfrm>
              <a:off x="6960073" y="3751671"/>
              <a:ext cx="1250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0" dirty="0"/>
                <a:t>Address 25072</a:t>
              </a:r>
            </a:p>
          </p:txBody>
        </p:sp>
      </p:grp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B19A53A-559E-57F9-5CAD-6719DB153F77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 bwMode="auto">
          <a:xfrm>
            <a:off x="5199024" y="3676286"/>
            <a:ext cx="1439541" cy="550728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BC637AC-B381-CC7B-4056-E8DBF5ABBE50}"/>
              </a:ext>
            </a:extLst>
          </p:cNvPr>
          <p:cNvSpPr/>
          <p:nvPr/>
        </p:nvSpPr>
        <p:spPr bwMode="auto">
          <a:xfrm>
            <a:off x="3793806" y="3474668"/>
            <a:ext cx="1405218" cy="396688"/>
          </a:xfrm>
          <a:prstGeom prst="rect">
            <a:avLst/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25072</a:t>
            </a:r>
            <a:endParaRPr kumimoji="0" lang="en-GB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6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26" grpId="0" animBg="1"/>
      <p:bldP spid="2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8DDB-9EF6-338D-5259-90E005B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BB1-487F-7DB1-4ADC-D9E7AF20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r>
              <a:rPr lang="en-US" dirty="0">
                <a:latin typeface="Arial" charset="0"/>
                <a:cs typeface="Arial" charset="0"/>
              </a:rPr>
              <a:t>Returns the length of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.</a:t>
            </a:r>
          </a:p>
          <a:p>
            <a:r>
              <a:rPr lang="en-US" dirty="0">
                <a:latin typeface="Arial" charset="0"/>
                <a:cs typeface="Arial" charset="0"/>
              </a:rPr>
              <a:t>More efficient (than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.equals(“”)</a:t>
            </a:r>
            <a:r>
              <a:rPr lang="en-US" dirty="0">
                <a:latin typeface="Arial" charset="0"/>
                <a:cs typeface="Arial" charset="0"/>
              </a:rPr>
              <a:t>) in determining whether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is empty.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indexOf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r>
              <a:rPr lang="en-GB" dirty="0"/>
              <a:t>Returns the position of the first occurrence of specified character(s) in a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sz="1600" dirty="0">
                <a:latin typeface="Arial" charset="0"/>
                <a:cs typeface="Arial" charset="0"/>
              </a:rPr>
              <a:t>(the first position is zero).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Returns -1 if the character(s) does not exist.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33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8DDB-9EF6-338D-5259-90E005B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BB1-487F-7DB1-4ADC-D9E7AF20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b="1" dirty="0">
                <a:solidFill>
                  <a:srgbClr val="0070C0"/>
                </a:solidFill>
              </a:rPr>
              <a:t>method</a:t>
            </a:r>
          </a:p>
          <a:p>
            <a:r>
              <a:rPr lang="en-US" dirty="0">
                <a:latin typeface="Arial" charset="0"/>
                <a:cs typeface="Arial" charset="0"/>
              </a:rPr>
              <a:t>Requires an integer argument.</a:t>
            </a:r>
          </a:p>
          <a:p>
            <a:r>
              <a:rPr lang="en-US" dirty="0">
                <a:latin typeface="Arial" charset="0"/>
                <a:cs typeface="Arial" charset="0"/>
              </a:rPr>
              <a:t>Indicates the position of the character that the method returns.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endsWith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b="1" dirty="0">
                <a:solidFill>
                  <a:srgbClr val="0070C0"/>
                </a:solidFill>
              </a:rPr>
              <a:t>method and </a:t>
            </a:r>
            <a:r>
              <a:rPr lang="en-GB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startsWith</a:t>
            </a:r>
            <a:r>
              <a:rPr lang="en-GB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b="1" dirty="0">
                <a:solidFill>
                  <a:srgbClr val="0070C0"/>
                </a:solidFill>
              </a:rPr>
              <a:t> method</a:t>
            </a:r>
          </a:p>
          <a:p>
            <a:r>
              <a:rPr lang="en-US" dirty="0">
                <a:latin typeface="Arial" charset="0"/>
                <a:cs typeface="Arial" charset="0"/>
              </a:rPr>
              <a:t>Each takes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dirty="0">
                <a:latin typeface="Arial" charset="0"/>
                <a:cs typeface="Arial" charset="0"/>
              </a:rPr>
              <a:t>argument.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Return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sz="1600" dirty="0">
                <a:latin typeface="Arial" charset="0"/>
                <a:cs typeface="Arial" charset="0"/>
              </a:rPr>
              <a:t>or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>
                <a:latin typeface="Arial" charset="0"/>
                <a:cs typeface="Arial" charset="0"/>
              </a:rPr>
              <a:t> if a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600" dirty="0">
                <a:latin typeface="Arial" charset="0"/>
                <a:cs typeface="Arial" charset="0"/>
              </a:rPr>
              <a:t>object does or does not end or start with the specified argument,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234870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28BD-2700-5C3B-1693-A2A2D282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1510"/>
            <a:ext cx="3719264" cy="857250"/>
          </a:xfrm>
        </p:spPr>
        <p:txBody>
          <a:bodyPr/>
          <a:lstStyle/>
          <a:p>
            <a:r>
              <a:rPr lang="en-GB" dirty="0"/>
              <a:t>Useful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9DD1-3A95-9E66-42E3-97A934BE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3591517" cy="2952328"/>
          </a:xfrm>
        </p:spPr>
        <p:txBody>
          <a:bodyPr/>
          <a:lstStyle/>
          <a:p>
            <a:r>
              <a:rPr lang="en-GB" dirty="0"/>
              <a:t>Other useful methods include: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394090-A6A0-B6F6-5C12-B1E8887D433B}"/>
              </a:ext>
            </a:extLst>
          </p:cNvPr>
          <p:cNvGraphicFramePr>
            <a:graphicFrameLocks/>
          </p:cNvGraphicFramePr>
          <p:nvPr/>
        </p:nvGraphicFramePr>
        <p:xfrm>
          <a:off x="2191293" y="1768512"/>
          <a:ext cx="5567083" cy="2481664"/>
        </p:xfrm>
        <a:graphic>
          <a:graphicData uri="http://schemas.openxmlformats.org/drawingml/2006/table">
            <a:tbl>
              <a:tblPr firstRow="1" bandRow="1"/>
              <a:tblGrid>
                <a:gridCol w="2045414">
                  <a:extLst>
                    <a:ext uri="{9D8B030D-6E8A-4147-A177-3AD203B41FA5}">
                      <a16:colId xmlns:a16="http://schemas.microsoft.com/office/drawing/2014/main" val="1432364511"/>
                    </a:ext>
                  </a:extLst>
                </a:gridCol>
                <a:gridCol w="3521669">
                  <a:extLst>
                    <a:ext uri="{9D8B030D-6E8A-4147-A177-3AD203B41FA5}">
                      <a16:colId xmlns:a16="http://schemas.microsoft.com/office/drawing/2014/main" val="3052839755"/>
                    </a:ext>
                  </a:extLst>
                </a:gridCol>
              </a:tblGrid>
              <a:tr h="2752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8853"/>
                  </a:ext>
                </a:extLst>
              </a:tr>
              <a:tr h="3175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Method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Description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26476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Replaces all occurrences of some character within a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1961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contains()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Allows you to determine whether one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 contains another</a:t>
                      </a:r>
                      <a:r>
                        <a:rPr lang="en-US" sz="1400" dirty="0"/>
                        <a:t>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7862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substring()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Extracts part of a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59017"/>
                  </a:ext>
                </a:extLst>
              </a:tr>
              <a:tr h="2752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split()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Splits this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 around matches of the given regular expression.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712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7A7CF3-CFC2-D628-ED87-BE95CCB06C4B}"/>
              </a:ext>
            </a:extLst>
          </p:cNvPr>
          <p:cNvSpPr txBox="1"/>
          <p:nvPr/>
        </p:nvSpPr>
        <p:spPr>
          <a:xfrm>
            <a:off x="3348317" y="4580651"/>
            <a:ext cx="2680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Code: BusinessLeter.java</a:t>
            </a:r>
          </a:p>
        </p:txBody>
      </p:sp>
    </p:spTree>
    <p:extLst>
      <p:ext uri="{BB962C8B-B14F-4D97-AF65-F5344CB8AC3E}">
        <p14:creationId xmlns:p14="http://schemas.microsoft.com/office/powerpoint/2010/main" val="3944825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B449-7463-E4E1-678C-3B568295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StringBuilder and StringBuffer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BC5A-D38E-658E-9E0F-CA6AACC1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3"/>
            <a:ext cx="7772400" cy="29603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problem of modifying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is </a:t>
            </a:r>
            <a:r>
              <a:rPr lang="en-US" sz="1600" dirty="0">
                <a:latin typeface="Arial" charset="0"/>
                <a:cs typeface="Arial" charset="0"/>
              </a:rPr>
              <a:t>immutable once it’s been created.</a:t>
            </a:r>
          </a:p>
          <a:p>
            <a:r>
              <a:rPr lang="en-US" dirty="0">
                <a:latin typeface="Arial" charset="0"/>
                <a:cs typeface="Arial" charset="0"/>
              </a:rPr>
              <a:t>Quite often, a new object will be created when </a:t>
            </a:r>
            <a:r>
              <a:rPr lang="en-US" sz="1600" dirty="0">
                <a:latin typeface="Arial" charset="0"/>
                <a:cs typeface="Arial" charset="0"/>
              </a:rPr>
              <a:t>you “modify” a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String,</a:t>
            </a:r>
            <a:r>
              <a:rPr lang="en-US" sz="1600" dirty="0">
                <a:latin typeface="Arial" charset="0"/>
                <a:cs typeface="Arial" charset="0"/>
              </a:rPr>
              <a:t> and it may cause a performance issue.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sz="1600" dirty="0">
                <a:latin typeface="Arial" charset="0"/>
                <a:cs typeface="Arial" charset="0"/>
              </a:rPr>
              <a:t>In this case,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StringBuilder</a:t>
            </a:r>
            <a:r>
              <a:rPr lang="en-US" sz="1600" dirty="0">
                <a:latin typeface="Arial" charset="0"/>
                <a:cs typeface="Arial" charset="0"/>
              </a:rPr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StringBuffer</a:t>
            </a:r>
            <a:r>
              <a:rPr lang="en-US" sz="1600" dirty="0">
                <a:latin typeface="Arial" charset="0"/>
                <a:cs typeface="Arial" charset="0"/>
              </a:rPr>
              <a:t> instead.</a:t>
            </a:r>
          </a:p>
          <a:p>
            <a:r>
              <a:rPr lang="en-US" dirty="0">
                <a:latin typeface="Arial" charset="0"/>
                <a:cs typeface="Arial" charset="0"/>
              </a:rPr>
              <a:t>An alternative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latin typeface="Arial" charset="0"/>
                <a:cs typeface="Arial" charset="0"/>
              </a:rPr>
              <a:t> class.</a:t>
            </a:r>
          </a:p>
          <a:p>
            <a:r>
              <a:rPr lang="en-US" dirty="0">
                <a:latin typeface="Arial" charset="0"/>
                <a:cs typeface="Arial" charset="0"/>
              </a:rPr>
              <a:t>Can use anywhere you would use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String.</a:t>
            </a:r>
            <a:endParaRPr lang="en-US" sz="1600" dirty="0">
              <a:latin typeface="Arial" charset="0"/>
              <a:cs typeface="Arial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StringBuilder</a:t>
            </a:r>
            <a:r>
              <a:rPr lang="en-GB" dirty="0"/>
              <a:t> is more efficient.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StringBuffer</a:t>
            </a:r>
            <a:r>
              <a:rPr lang="en-GB" dirty="0"/>
              <a:t> is thread safe.</a:t>
            </a:r>
          </a:p>
        </p:txBody>
      </p:sp>
    </p:spTree>
    <p:extLst>
      <p:ext uri="{BB962C8B-B14F-4D97-AF65-F5344CB8AC3E}">
        <p14:creationId xmlns:p14="http://schemas.microsoft.com/office/powerpoint/2010/main" val="225043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28BD-2700-5C3B-1693-A2A2D282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1510"/>
            <a:ext cx="3584794" cy="857250"/>
          </a:xfrm>
        </p:spPr>
        <p:txBody>
          <a:bodyPr/>
          <a:lstStyle/>
          <a:p>
            <a:r>
              <a:rPr lang="en-GB" dirty="0"/>
              <a:t>StringBuilder and StringBuffer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9DD1-3A95-9E66-42E3-97A934BE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0" y="1650173"/>
            <a:ext cx="3430153" cy="373610"/>
          </a:xfrm>
        </p:spPr>
        <p:txBody>
          <a:bodyPr/>
          <a:lstStyle/>
          <a:p>
            <a:r>
              <a:rPr lang="en-GB" dirty="0"/>
              <a:t>Useful methods and properties: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394090-A6A0-B6F6-5C12-B1E8887D433B}"/>
              </a:ext>
            </a:extLst>
          </p:cNvPr>
          <p:cNvGraphicFramePr>
            <a:graphicFrameLocks/>
          </p:cNvGraphicFramePr>
          <p:nvPr/>
        </p:nvGraphicFramePr>
        <p:xfrm>
          <a:off x="3941718" y="445823"/>
          <a:ext cx="4806746" cy="4358640"/>
        </p:xfrm>
        <a:graphic>
          <a:graphicData uri="http://schemas.openxmlformats.org/drawingml/2006/table">
            <a:tbl>
              <a:tblPr firstRow="1" bandRow="1"/>
              <a:tblGrid>
                <a:gridCol w="1640541">
                  <a:extLst>
                    <a:ext uri="{9D8B030D-6E8A-4147-A177-3AD203B41FA5}">
                      <a16:colId xmlns:a16="http://schemas.microsoft.com/office/drawing/2014/main" val="1432364511"/>
                    </a:ext>
                  </a:extLst>
                </a:gridCol>
                <a:gridCol w="3166205">
                  <a:extLst>
                    <a:ext uri="{9D8B030D-6E8A-4147-A177-3AD203B41FA5}">
                      <a16:colId xmlns:a16="http://schemas.microsoft.com/office/drawing/2014/main" val="3052839755"/>
                    </a:ext>
                  </a:extLst>
                </a:gridCol>
              </a:tblGrid>
              <a:tr h="27460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8853"/>
                  </a:ext>
                </a:extLst>
              </a:tr>
              <a:tr h="2861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Method/Property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b="1" dirty="0"/>
                        <a:t>Description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26476"/>
                  </a:ext>
                </a:extLst>
              </a:tr>
              <a:tr h="466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Adds characters to the end of a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StringBuilder</a:t>
                      </a: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 object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1961"/>
                  </a:ext>
                </a:extLst>
              </a:tr>
              <a:tr h="27460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Adds characters at a specific location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15929"/>
                  </a:ext>
                </a:extLst>
              </a:tr>
              <a:tr h="6590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Identifies the number of characters in the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 contained in the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StringBuilder</a:t>
                      </a:r>
                      <a:r>
                        <a:rPr lang="en-US" sz="1400" dirty="0"/>
                        <a:t>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7862"/>
                  </a:ext>
                </a:extLst>
              </a:tr>
              <a:tr h="6590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SetCharAt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Changes a character at a specified position within a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StringBuilder</a:t>
                      </a: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 object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59017"/>
                  </a:ext>
                </a:extLst>
              </a:tr>
              <a:tr h="6590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1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Returns the character at that position (offset of the character position from the beginning of a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</a:t>
                      </a:r>
                      <a:r>
                        <a:rPr lang="en-US" sz="1400" dirty="0">
                          <a:latin typeface="Arial" charset="0"/>
                          <a:cs typeface="Arial" charset="0"/>
                        </a:rPr>
                        <a:t>).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71212"/>
                  </a:ext>
                </a:extLst>
              </a:tr>
              <a:tr h="65904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toString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GB" sz="1400" dirty="0">
                          <a:latin typeface="Arial" charset="0"/>
                          <a:cs typeface="Arial" charset="0"/>
                        </a:rPr>
                        <a:t>Returns a string containing the characters in this sequence in the same order as this sequence.</a:t>
                      </a:r>
                      <a:endParaRPr lang="en-US" sz="1400" dirty="0">
                        <a:latin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9335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F1B53D-052C-2AB8-ACA8-D2BD342B481C}"/>
              </a:ext>
            </a:extLst>
          </p:cNvPr>
          <p:cNvSpPr txBox="1"/>
          <p:nvPr/>
        </p:nvSpPr>
        <p:spPr>
          <a:xfrm>
            <a:off x="520448" y="3894237"/>
            <a:ext cx="3047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Code: StringBuilderMain.java</a:t>
            </a:r>
          </a:p>
        </p:txBody>
      </p:sp>
    </p:spTree>
    <p:extLst>
      <p:ext uri="{BB962C8B-B14F-4D97-AF65-F5344CB8AC3E}">
        <p14:creationId xmlns:p14="http://schemas.microsoft.com/office/powerpoint/2010/main" val="673728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</TotalTime>
  <Words>1833</Words>
  <Application>Microsoft Office PowerPoint</Application>
  <PresentationFormat>On-screen Show (16:9)</PresentationFormat>
  <Paragraphs>281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Georgia</vt:lpstr>
      <vt:lpstr>Arial</vt:lpstr>
      <vt:lpstr>Calibri</vt:lpstr>
      <vt:lpstr>Arial (Body)</vt:lpstr>
      <vt:lpstr>Wingdings</vt:lpstr>
      <vt:lpstr>Times New Roman</vt:lpstr>
      <vt:lpstr>Courier New</vt:lpstr>
      <vt:lpstr>Arial Unicode MS</vt:lpstr>
      <vt:lpstr>Default Design</vt:lpstr>
      <vt:lpstr>PowerPoint Presentation</vt:lpstr>
      <vt:lpstr>OOP/SW – Week 5</vt:lpstr>
      <vt:lpstr>Structure</vt:lpstr>
      <vt:lpstr>Review Java primitive data types</vt:lpstr>
      <vt:lpstr>char (as a primitive data type)</vt:lpstr>
      <vt:lpstr>Character class methods</vt:lpstr>
      <vt:lpstr>Knowledge Check</vt:lpstr>
      <vt:lpstr>Knowledge Check</vt:lpstr>
      <vt:lpstr>Understand the String data problems</vt:lpstr>
      <vt:lpstr>Understand the String data problems</vt:lpstr>
      <vt:lpstr>Understand the String data problems</vt:lpstr>
      <vt:lpstr>Understand the String data problems</vt:lpstr>
      <vt:lpstr>Declare/initialise String objects</vt:lpstr>
      <vt:lpstr>Declare/initialise String objects</vt:lpstr>
      <vt:lpstr>Knowledge Check</vt:lpstr>
      <vt:lpstr>Declare/initialise String objects</vt:lpstr>
      <vt:lpstr>Useful String methods</vt:lpstr>
      <vt:lpstr>Useful String methods</vt:lpstr>
      <vt:lpstr>Useful String methods</vt:lpstr>
      <vt:lpstr>Useful String methods</vt:lpstr>
      <vt:lpstr>Useful String methods</vt:lpstr>
      <vt:lpstr>Useful String methods</vt:lpstr>
      <vt:lpstr>StringBuilder and StringBuffer</vt:lpstr>
      <vt:lpstr>StringBuilder and StringBuffer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Jizheng Wan</cp:lastModifiedBy>
  <cp:revision>2</cp:revision>
  <cp:lastPrinted>2019-07-31T08:58:40Z</cp:lastPrinted>
  <dcterms:created xsi:type="dcterms:W3CDTF">2005-06-08T11:15:47Z</dcterms:created>
  <dcterms:modified xsi:type="dcterms:W3CDTF">2023-10-24T07:59:37Z</dcterms:modified>
</cp:coreProperties>
</file>